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6858000" cx="12192000"/>
  <p:notesSz cx="6858000" cy="9144000"/>
  <p:embeddedFontLst>
    <p:embeddedFont>
      <p:font typeface="Work Sans"/>
      <p:regular r:id="rId50"/>
      <p:bold r:id="rId51"/>
      <p:italic r:id="rId52"/>
      <p:boldItalic r:id="rId53"/>
    </p:embeddedFont>
    <p:embeddedFont>
      <p:font typeface="Work Sans SemiBold"/>
      <p:regular r:id="rId54"/>
      <p:bold r:id="rId55"/>
      <p:italic r:id="rId56"/>
      <p:boldItalic r:id="rId57"/>
    </p:embeddedFont>
    <p:embeddedFont>
      <p:font typeface="Work Sans Light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  <p:ext uri="GoogleSlidesCustomDataVersion2">
      <go:slidesCustomData xmlns:go="http://customooxmlschemas.google.com/" r:id="rId62" roundtripDataSignature="AMtx7mhtvh2gS4OyAtzL8qrFhQg9tArQ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  <p:guide pos="438"/>
        <p:guide pos="2387" orient="horz"/>
        <p:guide pos="28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customschemas.google.com/relationships/presentationmetadata" Target="metadata"/><Relationship Id="rId61" Type="http://schemas.openxmlformats.org/officeDocument/2006/relationships/font" Target="fonts/WorkSansLight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WorkSansLight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WorkSans-bold.fntdata"/><Relationship Id="rId50" Type="http://schemas.openxmlformats.org/officeDocument/2006/relationships/font" Target="fonts/WorkSans-regular.fntdata"/><Relationship Id="rId53" Type="http://schemas.openxmlformats.org/officeDocument/2006/relationships/font" Target="fonts/WorkSans-boldItalic.fntdata"/><Relationship Id="rId52" Type="http://schemas.openxmlformats.org/officeDocument/2006/relationships/font" Target="fonts/WorkSans-italic.fntdata"/><Relationship Id="rId11" Type="http://schemas.openxmlformats.org/officeDocument/2006/relationships/slide" Target="slides/slide6.xml"/><Relationship Id="rId55" Type="http://schemas.openxmlformats.org/officeDocument/2006/relationships/font" Target="fonts/WorkSansSemiBold-bold.fntdata"/><Relationship Id="rId10" Type="http://schemas.openxmlformats.org/officeDocument/2006/relationships/slide" Target="slides/slide5.xml"/><Relationship Id="rId54" Type="http://schemas.openxmlformats.org/officeDocument/2006/relationships/font" Target="fonts/WorkSansSemiBold-regular.fntdata"/><Relationship Id="rId13" Type="http://schemas.openxmlformats.org/officeDocument/2006/relationships/slide" Target="slides/slide8.xml"/><Relationship Id="rId57" Type="http://schemas.openxmlformats.org/officeDocument/2006/relationships/font" Target="fonts/WorkSansSemiBold-boldItalic.fntdata"/><Relationship Id="rId12" Type="http://schemas.openxmlformats.org/officeDocument/2006/relationships/slide" Target="slides/slide7.xml"/><Relationship Id="rId56" Type="http://schemas.openxmlformats.org/officeDocument/2006/relationships/font" Target="fonts/WorkSansSemiBold-italic.fntdata"/><Relationship Id="rId15" Type="http://schemas.openxmlformats.org/officeDocument/2006/relationships/slide" Target="slides/slide10.xml"/><Relationship Id="rId59" Type="http://schemas.openxmlformats.org/officeDocument/2006/relationships/font" Target="fonts/WorkSansLight-bold.fntdata"/><Relationship Id="rId14" Type="http://schemas.openxmlformats.org/officeDocument/2006/relationships/slide" Target="slides/slide9.xml"/><Relationship Id="rId58" Type="http://schemas.openxmlformats.org/officeDocument/2006/relationships/font" Target="fonts/WorkSansLight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69355e67d386711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h69355e67d386711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535957063e41c9b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535957063e41c9b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h535957063e41c9b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535957063e41c9b4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535957063e41c9b4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h535957063e41c9b4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535957063e41c9b4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535957063e41c9b4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h535957063e41c9b4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7b2a8ba38c7c884f_3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h7b2a8ba38c7c884f_3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7b2a8ba38c7c884f_3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h7b2a8ba38c7c884f_3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3" name="Google Shape;51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4" name="Google Shape;5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2" name="Google Shape;5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0" Type="http://schemas.openxmlformats.org/officeDocument/2006/relationships/image" Target="../media/image7.png"/><Relationship Id="rId9" Type="http://schemas.openxmlformats.org/officeDocument/2006/relationships/image" Target="../media/image12.png"/><Relationship Id="rId5" Type="http://schemas.openxmlformats.org/officeDocument/2006/relationships/image" Target="../media/image2.jp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1" Type="http://schemas.openxmlformats.org/officeDocument/2006/relationships/image" Target="../media/image32.png"/><Relationship Id="rId10" Type="http://schemas.openxmlformats.org/officeDocument/2006/relationships/image" Target="../media/image24.png"/><Relationship Id="rId9" Type="http://schemas.openxmlformats.org/officeDocument/2006/relationships/image" Target="../media/image35.png"/><Relationship Id="rId5" Type="http://schemas.openxmlformats.org/officeDocument/2006/relationships/image" Target="../media/image2.jpg"/><Relationship Id="rId6" Type="http://schemas.openxmlformats.org/officeDocument/2006/relationships/image" Target="../media/image33.png"/><Relationship Id="rId7" Type="http://schemas.openxmlformats.org/officeDocument/2006/relationships/image" Target="../media/image41.png"/><Relationship Id="rId8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3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1" Type="http://schemas.openxmlformats.org/officeDocument/2006/relationships/image" Target="../media/image38.png"/><Relationship Id="rId10" Type="http://schemas.openxmlformats.org/officeDocument/2006/relationships/image" Target="../media/image36.png"/><Relationship Id="rId9" Type="http://schemas.openxmlformats.org/officeDocument/2006/relationships/image" Target="../media/image31.png"/><Relationship Id="rId5" Type="http://schemas.openxmlformats.org/officeDocument/2006/relationships/image" Target="../media/image2.jp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png"/><Relationship Id="rId4" Type="http://schemas.openxmlformats.org/officeDocument/2006/relationships/image" Target="../media/image42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Relationship Id="rId4" Type="http://schemas.openxmlformats.org/officeDocument/2006/relationships/image" Target="../media/image45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963672" y="2551837"/>
            <a:ext cx="6453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61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376248" y="817708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518082" y="767081"/>
            <a:ext cx="8460409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APLICACIÓN WEB Y APP PARA LA SOLUCIÓN DE PROBLEMAS ACADÉMICOS A TRAVÉS DE INTELIGENCIA ARTIFICIAL GENERATIVA PARA ESTUDIANTES DEL COLEGIO TÉCNICO PALERMO 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AUTORES: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SANTIAGO ANDRES POSSO VASQUEZ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SAMUEL EMILIO VASQUEZ ALVAREZ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CENTRO DE DISEÑO Y METROLOGÍA (SENA)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I.E.D COLEGIO TÉCNICO PALERMO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TÉCNICO EN PROGRMACIÓN DE SOFTWARE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BOGOTÁ D.C.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8"/>
          <p:cNvSpPr txBox="1"/>
          <p:nvPr/>
        </p:nvSpPr>
        <p:spPr>
          <a:xfrm>
            <a:off x="1416433" y="2166801"/>
            <a:ext cx="6453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61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9" name="Google Shape;99;p28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42449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8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01" name="Google Shape;101;p28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102" name="Google Shape;102;p28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8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28"/>
          <p:cNvSpPr txBox="1"/>
          <p:nvPr/>
        </p:nvSpPr>
        <p:spPr>
          <a:xfrm>
            <a:off x="1297026" y="850018"/>
            <a:ext cx="9344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199">
                <a:latin typeface="Times"/>
                <a:ea typeface="Times"/>
                <a:cs typeface="Times"/>
                <a:sym typeface="Times"/>
              </a:rPr>
              <a:t>INTRODUCCIÓN</a:t>
            </a:r>
            <a:endParaRPr/>
          </a:p>
        </p:txBody>
      </p:sp>
      <p:sp>
        <p:nvSpPr>
          <p:cNvPr id="105" name="Google Shape;105;p28"/>
          <p:cNvSpPr txBox="1"/>
          <p:nvPr/>
        </p:nvSpPr>
        <p:spPr>
          <a:xfrm>
            <a:off x="849300" y="758175"/>
            <a:ext cx="104934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4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74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 proyecto tiene como objetivo desarrollar un sitio web educativo para los estudiantes de la media técnica con </a:t>
            </a: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énfasis</a:t>
            </a: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en </a:t>
            </a: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programación</a:t>
            </a: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de software en </a:t>
            </a: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Colegio Técnico Palermo. Tiene el fin de enseñar a los estudiantes un </a:t>
            </a: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método</a:t>
            </a: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de estudio </a:t>
            </a: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didáctico</a:t>
            </a: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y interactivo, el método de estudio, Flashcards, el cual permite reforzar la memoria, mejorar la retención de información y facilitar el aprendizaje a través de tarjetas digitales con preguntas y respuestas. Asimismo, incorporará cuestionarios interactivos que permitirán evaluar los conocimientos adquiridos y avanzar progresivamente en diferentes niveles de aprendizaje. De esta manera, se busca ofrecer una herramienta intuitiva y dinámica que fomente el aprendizaje autónomo, promueva hábitos de estudio efectivos y contribuya al mejoramiento del rendimiento académico de los estudiantes.</a:t>
            </a:r>
            <a:r>
              <a:rPr lang="es-CO" sz="1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69355e67d386711b_0_1"/>
          <p:cNvSpPr txBox="1"/>
          <p:nvPr/>
        </p:nvSpPr>
        <p:spPr>
          <a:xfrm>
            <a:off x="1416433" y="2166801"/>
            <a:ext cx="6453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61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11" name="Google Shape;111;h69355e67d386711b_0_1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h69355e67d386711b_0_1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13" name="Google Shape;113;h69355e67d386711b_0_1"/>
          <p:cNvGrpSpPr/>
          <p:nvPr/>
        </p:nvGrpSpPr>
        <p:grpSpPr>
          <a:xfrm>
            <a:off x="794356" y="758166"/>
            <a:ext cx="892810" cy="892810"/>
            <a:chOff x="0" y="0"/>
            <a:chExt cx="6350000" cy="6350000"/>
          </a:xfrm>
        </p:grpSpPr>
        <p:sp>
          <p:nvSpPr>
            <p:cNvPr id="114" name="Google Shape;114;h69355e67d386711b_0_1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h69355e67d386711b_0_1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h69355e67d386711b_0_1"/>
          <p:cNvSpPr txBox="1"/>
          <p:nvPr/>
        </p:nvSpPr>
        <p:spPr>
          <a:xfrm>
            <a:off x="2815547" y="908473"/>
            <a:ext cx="616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PLANTEAMIENTO DEL PROBLEMA</a:t>
            </a:r>
            <a:endParaRPr/>
          </a:p>
        </p:txBody>
      </p:sp>
      <p:sp>
        <p:nvSpPr>
          <p:cNvPr id="117" name="Google Shape;117;h69355e67d386711b_0_1"/>
          <p:cNvSpPr txBox="1"/>
          <p:nvPr/>
        </p:nvSpPr>
        <p:spPr>
          <a:xfrm>
            <a:off x="1687176" y="1857125"/>
            <a:ext cx="8140800" cy="29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232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232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¿Cómo desarrollar e implementar un sitio web que permita a estudiantes de media técnica del colegio Técnico Palermo una aplicación  que les enseñe cómo aplicar métodos de estudio?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41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/>
        </p:nvSpPr>
        <p:spPr>
          <a:xfrm>
            <a:off x="1416433" y="2166801"/>
            <a:ext cx="6453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61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23" name="Google Shape;123;p29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9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25" name="Google Shape;125;p29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126" name="Google Shape;126;p29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9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29"/>
          <p:cNvSpPr txBox="1"/>
          <p:nvPr/>
        </p:nvSpPr>
        <p:spPr>
          <a:xfrm>
            <a:off x="2815547" y="908473"/>
            <a:ext cx="6168655" cy="562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PLANTEAMIENTO DEL PROBLEMA</a:t>
            </a:r>
            <a:endParaRPr/>
          </a:p>
        </p:txBody>
      </p:sp>
      <p:sp>
        <p:nvSpPr>
          <p:cNvPr id="129" name="Google Shape;129;p29"/>
          <p:cNvSpPr txBox="1"/>
          <p:nvPr/>
        </p:nvSpPr>
        <p:spPr>
          <a:xfrm>
            <a:off x="1095625" y="944575"/>
            <a:ext cx="9903300" cy="51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232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232083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600">
                <a:solidFill>
                  <a:srgbClr val="0D0D0D"/>
                </a:solidFill>
                <a:highlight>
                  <a:srgbClr val="FCFCF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 el Colegio Técnico Palermo, muchos estudiantes de educación media presentan dificultades para desarrollar hábitos de estudio efectivos debido al desconocimiento y la falta de aplicación de métodos que faciliten el aprendizaje, lo que afecta su organización y rendimiento académico. Además, la institución no cuenta con una plataforma web especializada que enseñe y permita practicar estrategias de estudio de manera interactiva. Por esta razón, surge la necesidad de desarrollar una aplicación web que brinde contenidos y ejercicios didácticos sobre diferentes métodos de estudio, como las flashcards, con el fin de fomentar el aprendizaje autónomo, mejorar los hábitos de estudio y fortalecer el desempeño académico de los estudiantes.</a:t>
            </a:r>
            <a:r>
              <a:rPr lang="es-CO" sz="1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41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/>
          <p:nvPr/>
        </p:nvSpPr>
        <p:spPr>
          <a:xfrm>
            <a:off x="1416431" y="2166800"/>
            <a:ext cx="9438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80340" marR="140970" rtl="0" algn="l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Desarrollar un sitio web que le permita a estudiantes del colegio técnico Palermo, con énfasis en programación de software de media técnica, desarrollar la estrategia de estudio interactiva, como el método flashcards. Con esto les permitimos a los estudiantes obtener formas más interactivas de realizar estudios y un lugar en el que puedan aprender.</a:t>
            </a:r>
            <a:endParaRPr b="1" i="0" sz="16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30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0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52" name="Google Shape;152;p30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153" name="Google Shape;153;p30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0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30"/>
          <p:cNvSpPr txBox="1"/>
          <p:nvPr/>
        </p:nvSpPr>
        <p:spPr>
          <a:xfrm>
            <a:off x="2530136" y="1008459"/>
            <a:ext cx="6374168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OBJETIVO GENERAL</a:t>
            </a:r>
            <a:endParaRPr/>
          </a:p>
        </p:txBody>
      </p:sp>
      <p:sp>
        <p:nvSpPr>
          <p:cNvPr id="156" name="Google Shape;156;p30"/>
          <p:cNvSpPr txBox="1"/>
          <p:nvPr/>
        </p:nvSpPr>
        <p:spPr>
          <a:xfrm>
            <a:off x="9199225" y="5402600"/>
            <a:ext cx="303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/>
        </p:nvSpPr>
        <p:spPr>
          <a:xfrm>
            <a:off x="1651909" y="2272292"/>
            <a:ext cx="79176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Times New Roman"/>
              <a:buAutoNum type="arabicPeriod"/>
            </a:pPr>
            <a:r>
              <a:rPr lang="es-CO" sz="1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Identificar las dificultades de estudio y aprendizaje que presentan los estudiantes de media técnica del Colegio Técnico Palermo.</a:t>
            </a:r>
            <a:endParaRPr sz="16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 Diseñar la interfaz gráfica y la base de datos de la aplicación web, estableciendo una estructura intuitiva que permite organizar las tarjetas de estudio por temas y niveles.</a:t>
            </a:r>
            <a:endParaRPr sz="16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t/>
            </a:r>
            <a:endParaRPr sz="2400"/>
          </a:p>
        </p:txBody>
      </p:sp>
      <p:pic>
        <p:nvPicPr>
          <p:cNvPr id="162" name="Google Shape;162;p31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1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64" name="Google Shape;164;p31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165" name="Google Shape;165;p31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1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31"/>
          <p:cNvSpPr txBox="1"/>
          <p:nvPr/>
        </p:nvSpPr>
        <p:spPr>
          <a:xfrm>
            <a:off x="2530136" y="1008459"/>
            <a:ext cx="637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OBJETIVOS </a:t>
            </a:r>
            <a:r>
              <a:rPr b="1" lang="es-CO" sz="3200">
                <a:latin typeface="Times"/>
                <a:ea typeface="Times"/>
                <a:cs typeface="Times"/>
                <a:sym typeface="Times"/>
              </a:rPr>
              <a:t>ESPECÍFICOS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7b2a8ba38c7c884f_3_1"/>
          <p:cNvSpPr txBox="1"/>
          <p:nvPr/>
        </p:nvSpPr>
        <p:spPr>
          <a:xfrm>
            <a:off x="2185309" y="1963492"/>
            <a:ext cx="79176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CO" sz="1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Desarrollar un módulo interactivo basado en el método Flashcards, que permita a los estudiantes visualizar preguntas, revelar respuestas y repasar los contenidos para fortalecer la retención de información.</a:t>
            </a:r>
            <a:endParaRPr sz="16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CO" sz="1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Implementar un sistema de cuestionarios (Flashcards) administrados por los responsables de la plataforma, que permita evaluar los conocimientos de los estudiantes y facilitar su avance a través de niveles de progreso.</a:t>
            </a:r>
            <a:endParaRPr sz="16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2400"/>
          </a:p>
        </p:txBody>
      </p:sp>
      <p:pic>
        <p:nvPicPr>
          <p:cNvPr id="173" name="Google Shape;173;h7b2a8ba38c7c884f_3_1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h7b2a8ba38c7c884f_3_1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75" name="Google Shape;175;h7b2a8ba38c7c884f_3_1"/>
          <p:cNvGrpSpPr/>
          <p:nvPr/>
        </p:nvGrpSpPr>
        <p:grpSpPr>
          <a:xfrm>
            <a:off x="794356" y="758166"/>
            <a:ext cx="892810" cy="892810"/>
            <a:chOff x="0" y="0"/>
            <a:chExt cx="6350000" cy="6350000"/>
          </a:xfrm>
        </p:grpSpPr>
        <p:sp>
          <p:nvSpPr>
            <p:cNvPr id="176" name="Google Shape;176;h7b2a8ba38c7c884f_3_1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h7b2a8ba38c7c884f_3_1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h7b2a8ba38c7c884f_3_1"/>
          <p:cNvSpPr txBox="1"/>
          <p:nvPr/>
        </p:nvSpPr>
        <p:spPr>
          <a:xfrm>
            <a:off x="2530136" y="1008459"/>
            <a:ext cx="637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OBJETIVOS </a:t>
            </a:r>
            <a:r>
              <a:rPr b="1" lang="es-CO" sz="3200">
                <a:latin typeface="Times"/>
                <a:ea typeface="Times"/>
                <a:cs typeface="Times"/>
                <a:sym typeface="Times"/>
              </a:rPr>
              <a:t>ESPECÍFICOS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7b2a8ba38c7c884f_3_11"/>
          <p:cNvSpPr txBox="1"/>
          <p:nvPr/>
        </p:nvSpPr>
        <p:spPr>
          <a:xfrm>
            <a:off x="2185309" y="1963492"/>
            <a:ext cx="7917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CO" sz="18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Evaluar los cuestionarios de los estudiantes para dar paso a nuevos niveles.</a:t>
            </a:r>
            <a:endParaRPr sz="22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2400"/>
          </a:p>
        </p:txBody>
      </p:sp>
      <p:pic>
        <p:nvPicPr>
          <p:cNvPr id="184" name="Google Shape;184;h7b2a8ba38c7c884f_3_11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h7b2a8ba38c7c884f_3_11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86" name="Google Shape;186;h7b2a8ba38c7c884f_3_11"/>
          <p:cNvGrpSpPr/>
          <p:nvPr/>
        </p:nvGrpSpPr>
        <p:grpSpPr>
          <a:xfrm>
            <a:off x="794356" y="758166"/>
            <a:ext cx="892810" cy="892810"/>
            <a:chOff x="0" y="0"/>
            <a:chExt cx="6350000" cy="6350000"/>
          </a:xfrm>
        </p:grpSpPr>
        <p:sp>
          <p:nvSpPr>
            <p:cNvPr id="187" name="Google Shape;187;h7b2a8ba38c7c884f_3_11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h7b2a8ba38c7c884f_3_11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h7b2a8ba38c7c884f_3_11"/>
          <p:cNvSpPr txBox="1"/>
          <p:nvPr/>
        </p:nvSpPr>
        <p:spPr>
          <a:xfrm>
            <a:off x="2530136" y="1008459"/>
            <a:ext cx="637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OBJETIVOS </a:t>
            </a:r>
            <a:r>
              <a:rPr b="1" lang="es-CO" sz="3200">
                <a:latin typeface="Times"/>
                <a:ea typeface="Times"/>
                <a:cs typeface="Times"/>
                <a:sym typeface="Times"/>
              </a:rPr>
              <a:t>ESPECÍFICOS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/>
        </p:nvSpPr>
        <p:spPr>
          <a:xfrm>
            <a:off x="1687399" y="2105601"/>
            <a:ext cx="8508802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4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 beneficiarios del Proyecto presentado serán los estudiantes de media tecnica con enfasis en programacion de software del Colegio Técnico Palermo ubicado en la ciudad de Bogotá.</a:t>
            </a:r>
            <a:endParaRPr/>
          </a:p>
        </p:txBody>
      </p:sp>
      <p:pic>
        <p:nvPicPr>
          <p:cNvPr id="195" name="Google Shape;195;p33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3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97" name="Google Shape;197;p33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198" name="Google Shape;198;p33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3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33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BENEFICIARIOS DEL PROYECTO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/>
        </p:nvSpPr>
        <p:spPr>
          <a:xfrm>
            <a:off x="1687399" y="1958625"/>
            <a:ext cx="85089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proyecto pretende desarrollar un sistema web mediante el uso de tecnologías de desarrollo de software y un gestor de base de datos, en un plazo máximo de ejecución, que cuente con los módulos que se detallan a continuación: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MÓDULO</a:t>
            </a: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USUARIOS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MÓDULO</a:t>
            </a:r>
            <a:r>
              <a:rPr lang="es-CO" sz="2400"/>
              <a:t> DE </a:t>
            </a:r>
            <a:r>
              <a:rPr lang="es-CO" sz="2400"/>
              <a:t>GESTIÓN</a:t>
            </a:r>
            <a:r>
              <a:rPr lang="es-CO" sz="2400"/>
              <a:t> DE FLASHCARDS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p32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2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08" name="Google Shape;208;p32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209" name="Google Shape;209;p32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2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32"/>
          <p:cNvSpPr txBox="1"/>
          <p:nvPr/>
        </p:nvSpPr>
        <p:spPr>
          <a:xfrm>
            <a:off x="2530136" y="1008459"/>
            <a:ext cx="6374168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JUSTIFICACIÓN</a:t>
            </a:r>
            <a:endParaRPr b="1" i="0" sz="32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/>
        </p:nvSpPr>
        <p:spPr>
          <a:xfrm>
            <a:off x="1705475" y="1698413"/>
            <a:ext cx="85089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35941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9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Nous Akademia tiene como misión ofrecer una aplicación web educativa dirigida a los estudiantes de media técnica del Colegio Técnico Palermo, que facilite el aprendizaje y la aplicación del método de estudio Flashcards mediante tarjetas interactivas con preguntas y respuestas, cuestionarios y niveles de progreso, con el propósito de fortalecer la retención de conocimientos, la autonomía y los hábitos de estudio</a:t>
            </a:r>
            <a:endParaRPr i="0" sz="3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35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5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19" name="Google Shape;219;p35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220" name="Google Shape;220;p35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5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35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MISIÓN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6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6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29" name="Google Shape;229;p36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230" name="Google Shape;230;p36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36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36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VISIÓN</a:t>
            </a:r>
            <a:endParaRPr/>
          </a:p>
        </p:txBody>
      </p:sp>
      <p:sp>
        <p:nvSpPr>
          <p:cNvPr id="233" name="Google Shape;233;p36"/>
          <p:cNvSpPr txBox="1"/>
          <p:nvPr/>
        </p:nvSpPr>
        <p:spPr>
          <a:xfrm>
            <a:off x="1237126" y="1825161"/>
            <a:ext cx="9651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9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Nous Akademia busca consolidarse como una herramienta tecnológica educativa que contribuya al mejoramiento de los hábitos de estudio y el rendimiento académico de los estudiantes, promoviendo el uso de métodos de aprendizaje interactivos e innovadores. A futuro, pretende ampliar sus recursos y funcionalidades para beneficiar a más estudiantes y fomentar una cultura de aprendizaje autónomo y continuo. 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4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4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40" name="Google Shape;240;p34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241" name="Google Shape;241;p34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34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MODELO DE NEGOCIO CANVA</a:t>
            </a:r>
            <a:endParaRPr/>
          </a:p>
        </p:txBody>
      </p:sp>
      <p:pic>
        <p:nvPicPr>
          <p:cNvPr id="244" name="Google Shape;244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30135" y="1651210"/>
            <a:ext cx="6903576" cy="3409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/>
        </p:nvSpPr>
        <p:spPr>
          <a:xfrm>
            <a:off x="963672" y="2551837"/>
            <a:ext cx="6453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61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50" name="Google Shape;250;p27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04601" y="742449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1754819" y="694500"/>
            <a:ext cx="8682362" cy="216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3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43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Duración del proyecto: 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meses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3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Ubicación del proyecto:  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Colegio Técnico Palermo </a:t>
            </a:r>
            <a:endParaRPr/>
          </a:p>
          <a:p>
            <a:pPr indent="0" lvl="0" marL="0" marR="0" rtl="0" algn="l">
              <a:lnSpc>
                <a:spcPct val="143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localidad 13 Teusaquillo en la ciudad de Bogotá</a:t>
            </a:r>
            <a:endParaRPr/>
          </a:p>
          <a:p>
            <a:pPr indent="0" lvl="0" marL="0" marR="0" rtl="0" algn="l">
              <a:lnSpc>
                <a:spcPct val="143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Dirección: carrera 23 # 49 -37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6228510" y="2778509"/>
            <a:ext cx="3268575" cy="2254288"/>
          </a:xfrm>
          <a:custGeom>
            <a:rect b="b" l="l" r="r" t="t"/>
            <a:pathLst>
              <a:path extrusionOk="0" h="4471356" w="5643274">
                <a:moveTo>
                  <a:pt x="0" y="0"/>
                </a:moveTo>
                <a:lnTo>
                  <a:pt x="5643274" y="0"/>
                </a:lnTo>
                <a:lnTo>
                  <a:pt x="5643274" y="4471356"/>
                </a:lnTo>
                <a:lnTo>
                  <a:pt x="0" y="4471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2227748" y="2722103"/>
            <a:ext cx="3328657" cy="2310694"/>
          </a:xfrm>
          <a:custGeom>
            <a:rect b="b" l="l" r="r" t="t"/>
            <a:pathLst>
              <a:path extrusionOk="0" h="4522533" w="5930428">
                <a:moveTo>
                  <a:pt x="0" y="0"/>
                </a:moveTo>
                <a:lnTo>
                  <a:pt x="5930428" y="0"/>
                </a:lnTo>
                <a:lnTo>
                  <a:pt x="5930428" y="4522533"/>
                </a:lnTo>
                <a:lnTo>
                  <a:pt x="0" y="4522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2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27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256" name="Google Shape;256;p27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/>
        </p:nvSpPr>
        <p:spPr>
          <a:xfrm>
            <a:off x="1651909" y="1958625"/>
            <a:ext cx="8508802" cy="1528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32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alcance previsto para los estudiantes de la media técnica con énfasis en programación de software del Colegio Técnico Palermo.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7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7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65" name="Google Shape;265;p37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266" name="Google Shape;266;p37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7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" name="Google Shape;268;p37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ALCANCE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/>
        </p:nvSpPr>
        <p:spPr>
          <a:xfrm>
            <a:off x="1901228" y="2105601"/>
            <a:ext cx="7858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latin typeface="Calibri"/>
                <a:ea typeface="Calibri"/>
                <a:cs typeface="Calibri"/>
                <a:sym typeface="Calibri"/>
              </a:rPr>
              <a:t>Para recolectar la </a:t>
            </a:r>
            <a:r>
              <a:rPr lang="es-CO" sz="2400"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-CO" sz="2400">
                <a:latin typeface="Calibri"/>
                <a:ea typeface="Calibri"/>
                <a:cs typeface="Calibri"/>
                <a:sym typeface="Calibri"/>
              </a:rPr>
              <a:t> nosotros nos guiamos de </a:t>
            </a:r>
            <a:r>
              <a:rPr lang="es-CO" sz="2400"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-CO" sz="2400">
                <a:latin typeface="Calibri"/>
                <a:ea typeface="Calibri"/>
                <a:cs typeface="Calibri"/>
                <a:sym typeface="Calibri"/>
              </a:rPr>
              <a:t> de notas personales, encuestas y entrevistas a estudiantes de media.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38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8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76" name="Google Shape;276;p38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277" name="Google Shape;277;p38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8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38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METODOLOGIA DE INVESTIGACION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/>
        </p:nvSpPr>
        <p:spPr>
          <a:xfrm>
            <a:off x="1285592" y="2105601"/>
            <a:ext cx="3367889" cy="255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mayoría de los encuestados se encuentra entre los 15 y 17 años, siendo los de 16 años el grupo más representativo con un 43.3%, lo que confirma que la muestra corresponde adecuadamente a la población objetivo del proyecto.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39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9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87" name="Google Shape;287;p39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288" name="Google Shape;288;p39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9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0" name="Google Shape;290;p39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METODOLOGIA DE INVESTIGACION</a:t>
            </a:r>
            <a:endParaRPr/>
          </a:p>
        </p:txBody>
      </p:sp>
      <p:pic>
        <p:nvPicPr>
          <p:cNvPr id="291" name="Google Shape;291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3650" y="1957182"/>
            <a:ext cx="4661813" cy="2943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/>
        </p:nvSpPr>
        <p:spPr>
          <a:xfrm>
            <a:off x="1285592" y="2105601"/>
            <a:ext cx="4209861" cy="3724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60% de los estudiantes afirmó no estar seguro de conocer la forma de estudiar más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eficiente para ellos, y un 13.3% reconoció directamente no saberlo. Solo el 26.7% considera que sí la conoce. Esto evidencia una clara necesidad de orientación en métodos de estudio dentro de la institución</a:t>
            </a: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40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0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99" name="Google Shape;299;p40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300" name="Google Shape;300;p40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0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40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METODOLOGIA DE INVESTIGACION</a:t>
            </a:r>
            <a:endParaRPr/>
          </a:p>
        </p:txBody>
      </p:sp>
      <p:pic>
        <p:nvPicPr>
          <p:cNvPr id="303" name="Google Shape;303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3650" y="1957181"/>
            <a:ext cx="4661813" cy="2795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/>
        </p:nvSpPr>
        <p:spPr>
          <a:xfrm>
            <a:off x="1285593" y="1718172"/>
            <a:ext cx="4576178" cy="4585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gran mayoría de los estudiantes valoró positivamente conocer mejores métodos 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estudio, concentrándose las respuestas entre 8 y 10 puntos con un 56.6% combinado. La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calificación más frecuente fue 5 con un 30%, seguida de 10 con un 23.3% y 8 con un 20%. Solo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 3.3% calificó con 4 y otro 3.3% con 6, evidenciando que la mayoría reconoce la importancia</a:t>
            </a:r>
            <a:b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 utilidad de aprender técnicas de estudio más eficientes.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41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1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311" name="Google Shape;311;p41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312" name="Google Shape;312;p41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1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4" name="Google Shape;314;p41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METODOLOGIA DE INVESTIGACION</a:t>
            </a:r>
            <a:endParaRPr/>
          </a:p>
        </p:txBody>
      </p:sp>
      <p:pic>
        <p:nvPicPr>
          <p:cNvPr id="315" name="Google Shape;315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75699" y="2221167"/>
            <a:ext cx="4689765" cy="2783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/>
          <p:nvPr/>
        </p:nvSpPr>
        <p:spPr>
          <a:xfrm>
            <a:off x="1285593" y="1718172"/>
            <a:ext cx="4576178" cy="4001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60% de los estudiantes calificó con 4 o 5 la afirmación de que estudiar mal organizado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les quita tiempo libre, lo que indica que la mayoría siente un impacto negativo en su tiempo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personal debido a una mala organización al estudiar. Solo el 3.3% calificó con 1, reflejando que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muy pocos consideran que esto no les afecta.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42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2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323" name="Google Shape;323;p42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324" name="Google Shape;324;p42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2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42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METODOLOGIA DE INVESTIGACION</a:t>
            </a:r>
            <a:endParaRPr/>
          </a:p>
        </p:txBody>
      </p:sp>
      <p:pic>
        <p:nvPicPr>
          <p:cNvPr id="327" name="Google Shape;327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1771" y="1833738"/>
            <a:ext cx="5125832" cy="2937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/>
        </p:nvSpPr>
        <p:spPr>
          <a:xfrm>
            <a:off x="1285593" y="1718172"/>
            <a:ext cx="4576178" cy="3724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53.3% de los estudiantes afirmó que a veces siente que su forma de estudiar no les da los resultados esperados, y un 36.7% lo experimenta frecuentemente. Solo el 10% indicó que nunca le ocurre. Esto refuerza la necesidad de una herramienta que guíe a los estudiantes hacia métodos de estudio más efectivos.</a:t>
            </a:r>
            <a:b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43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3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335" name="Google Shape;335;p43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336" name="Google Shape;336;p43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3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8" name="Google Shape;338;p43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METODOLOGIA DE INVESTIGACION</a:t>
            </a:r>
            <a:endParaRPr/>
          </a:p>
        </p:txBody>
      </p:sp>
      <p:pic>
        <p:nvPicPr>
          <p:cNvPr id="339" name="Google Shape;339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5702" y="1931197"/>
            <a:ext cx="4671788" cy="2624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"/>
          <p:cNvSpPr txBox="1"/>
          <p:nvPr/>
        </p:nvSpPr>
        <p:spPr>
          <a:xfrm>
            <a:off x="1122631" y="2035044"/>
            <a:ext cx="4576178" cy="4585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60% de los estudiantes calificó con 3 la facilidad para encontrar información confiable sobre métodos de estudio, lo que indica una percepción intermedia al respecto. Un 20% la consideró difícil de encontrar calificando con 2, mientras que solo el 3.3% la consideró muy fácil. Esto sugiere que, aunque la información existe, los estudiantes no la encuentran de manera clara y accesible, justificando la necesidad de una plataforma centralizada y confiable.</a:t>
            </a: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44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4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347" name="Google Shape;347;p44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348" name="Google Shape;348;p44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" name="Google Shape;350;p44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METODOLOGIA DE INVESTIGACION</a:t>
            </a:r>
            <a:endParaRPr/>
          </a:p>
        </p:txBody>
      </p:sp>
      <p:pic>
        <p:nvPicPr>
          <p:cNvPr id="351" name="Google Shape;351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2280" y="1876425"/>
            <a:ext cx="4083183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 txBox="1"/>
          <p:nvPr/>
        </p:nvSpPr>
        <p:spPr>
          <a:xfrm>
            <a:off x="1122631" y="2035044"/>
            <a:ext cx="4576178" cy="3477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80% de los estudiantes afirmó que usaría una página web que les ayude a orientarse 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métodos de estudio, y un 16.7% lo consideraría. Solo el 3.3% respondió negativamente. Esto valida directamente la propuesta del proyecto, confirmando una alta aceptación y demanda por parte de la población objetivo.</a:t>
            </a:r>
            <a:b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45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5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359" name="Google Shape;359;p45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360" name="Google Shape;360;p45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5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" name="Google Shape;362;p45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METODOLOGIA DE INVESTIGACION</a:t>
            </a:r>
            <a:endParaRPr/>
          </a:p>
        </p:txBody>
      </p:sp>
      <p:pic>
        <p:nvPicPr>
          <p:cNvPr id="363" name="Google Shape;363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5838" y="2035044"/>
            <a:ext cx="4089626" cy="2871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/>
          <p:nvPr/>
        </p:nvSpPr>
        <p:spPr>
          <a:xfrm>
            <a:off x="1122631" y="2035044"/>
            <a:ext cx="4576178" cy="4308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43.3% de los estudiantes prefiere los ejercicios prácticos como medio para aprender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algo nuevo, seguido de los vídeos con un 36.7%. El texto explicativo y las infografías fueron los menos preferidos con un 13.3% y 6.7% respectivamente. Esto orienta el diseño de la aplicación hacia una experiencia principalmente práctica e interactiva, respaldando el modelo de suscripción para acceder a ejercicios.</a:t>
            </a: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46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6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371" name="Google Shape;371;p46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372" name="Google Shape;372;p46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6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46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METODOLOGIA DE INVESTIGACION</a:t>
            </a:r>
            <a:endParaRPr/>
          </a:p>
        </p:txBody>
      </p:sp>
      <p:pic>
        <p:nvPicPr>
          <p:cNvPr id="375" name="Google Shape;375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1011" y="2035044"/>
            <a:ext cx="3680289" cy="272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7"/>
          <p:cNvSpPr txBox="1"/>
          <p:nvPr/>
        </p:nvSpPr>
        <p:spPr>
          <a:xfrm>
            <a:off x="1113839" y="2035044"/>
            <a:ext cx="4576178" cy="3724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40% de los estudiantes indicó que la facilidad de navegación es el factor que más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confianza les genera en una página web, seguido de que se vea organizada con un 36.7% y un buen diseño visual con un 20%. La velocidad de carga fue el factor menos relevante con un 3.3%. Esto establece criterios clave para el desarrollo de la aplicación, priorizando una interfaz intuitiva, ordenada y visualmente atractiva.</a:t>
            </a: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47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7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383" name="Google Shape;383;p47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384" name="Google Shape;384;p47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7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47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METODOLOGIA DE INVESTIGACION</a:t>
            </a:r>
            <a:endParaRPr/>
          </a:p>
        </p:txBody>
      </p:sp>
      <p:pic>
        <p:nvPicPr>
          <p:cNvPr id="387" name="Google Shape;387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4769" y="2035044"/>
            <a:ext cx="3840728" cy="2871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8"/>
          <p:cNvSpPr txBox="1"/>
          <p:nvPr/>
        </p:nvSpPr>
        <p:spPr>
          <a:xfrm>
            <a:off x="1242875" y="2105601"/>
            <a:ext cx="3897296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Mostrar los íconos de los programas utilizados para el desarrollo del proyecto</a:t>
            </a:r>
            <a:endParaRPr/>
          </a:p>
        </p:txBody>
      </p:sp>
      <p:pic>
        <p:nvPicPr>
          <p:cNvPr id="393" name="Google Shape;393;p48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8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395" name="Google Shape;395;p48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396" name="Google Shape;396;p48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8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48"/>
          <p:cNvSpPr txBox="1"/>
          <p:nvPr/>
        </p:nvSpPr>
        <p:spPr>
          <a:xfrm>
            <a:off x="1806082" y="758166"/>
            <a:ext cx="892205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PROGRAMAS UTILIZDOS PARA EL DESARROLLO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DEL PROYECTO</a:t>
            </a:r>
            <a:endParaRPr/>
          </a:p>
        </p:txBody>
      </p:sp>
      <p:pic>
        <p:nvPicPr>
          <p:cNvPr id="399" name="Google Shape;399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6062" y="1719045"/>
            <a:ext cx="5611008" cy="3115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7497" y="2213242"/>
            <a:ext cx="1286054" cy="1028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5793" y="3242086"/>
            <a:ext cx="1343212" cy="1286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40115" y="4222109"/>
            <a:ext cx="2638793" cy="543001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sultado de imagen de visual studio code" id="403" name="Google Shape;403;p4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sultado de imagen de visual studio code" id="404" name="Google Shape;404;p48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" name="Google Shape;405;p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73616" y="2932587"/>
            <a:ext cx="2397730" cy="1286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"/>
          <p:cNvSpPr txBox="1"/>
          <p:nvPr/>
        </p:nvSpPr>
        <p:spPr>
          <a:xfrm>
            <a:off x="1687399" y="2208918"/>
            <a:ext cx="8508802" cy="1528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01083" lvl="1" marL="1002167" marR="0" rtl="0" algn="l">
              <a:lnSpc>
                <a:spcPct val="278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Impactos positivos en la comunidad educativa.</a:t>
            </a:r>
            <a:endParaRPr/>
          </a:p>
          <a:p>
            <a:pPr indent="-501083" lvl="1" marL="1002167" marR="0" rtl="0" algn="l">
              <a:lnSpc>
                <a:spcPct val="278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Ejemplos de mejoras en aprendizaje o procesos.</a:t>
            </a:r>
            <a:endParaRPr/>
          </a:p>
        </p:txBody>
      </p:sp>
      <p:pic>
        <p:nvPicPr>
          <p:cNvPr id="411" name="Google Shape;411;p49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9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413" name="Google Shape;413;p49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414" name="Google Shape;414;p49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9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6" name="Google Shape;416;p49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RESULTADOS ESPERADOS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50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0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423" name="Google Shape;423;p50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424" name="Google Shape;424;p50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0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6" name="Google Shape;426;p50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METODOLOGIA DE DESARROLLO</a:t>
            </a:r>
            <a:endParaRPr/>
          </a:p>
        </p:txBody>
      </p:sp>
      <p:sp>
        <p:nvSpPr>
          <p:cNvPr id="427" name="Google Shape;427;p50"/>
          <p:cNvSpPr txBox="1"/>
          <p:nvPr/>
        </p:nvSpPr>
        <p:spPr>
          <a:xfrm>
            <a:off x="1038004" y="1958625"/>
            <a:ext cx="5158608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metodología en cascada (o Waterfall) es un proceso de desarrollo lineal y secuencial en el que cada fase del proyecto debe completarse por completo antes de que la siguiente comience, fluyendo de arriba hacia abajo como una cascada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todología Cascada: Beneficios, Uso y Ejemplos Gratis" id="428" name="Google Shape;428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6612" y="1793260"/>
            <a:ext cx="5104106" cy="337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51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1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435" name="Google Shape;435;p51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436" name="Google Shape;436;p51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51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8" name="Google Shape;438;p51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CRONOGRAMA</a:t>
            </a:r>
            <a:endParaRPr/>
          </a:p>
        </p:txBody>
      </p:sp>
      <p:pic>
        <p:nvPicPr>
          <p:cNvPr id="439" name="Google Shape;439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4356" y="1582847"/>
            <a:ext cx="10575299" cy="448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52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2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446" name="Google Shape;446;p52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447" name="Google Shape;447;p52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52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9" name="Google Shape;449;p52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PRESUPUESTO</a:t>
            </a:r>
            <a:endParaRPr/>
          </a:p>
        </p:txBody>
      </p:sp>
      <p:pic>
        <p:nvPicPr>
          <p:cNvPr id="450" name="Google Shape;450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3438" y="1698412"/>
            <a:ext cx="8906607" cy="3278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53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3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457" name="Google Shape;457;p53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458" name="Google Shape;458;p53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53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0" name="Google Shape;460;p53"/>
          <p:cNvSpPr txBox="1"/>
          <p:nvPr/>
        </p:nvSpPr>
        <p:spPr>
          <a:xfrm>
            <a:off x="-459347" y="827231"/>
            <a:ext cx="13335000" cy="597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DISEÑO DEL SISTEMA</a:t>
            </a:r>
            <a:endParaRPr/>
          </a:p>
        </p:txBody>
      </p:sp>
      <p:pic>
        <p:nvPicPr>
          <p:cNvPr id="461" name="Google Shape;461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8475" y="1707321"/>
            <a:ext cx="3144098" cy="149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13295" y="1617570"/>
            <a:ext cx="3255318" cy="149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10450" y="1662084"/>
            <a:ext cx="3244976" cy="1567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08474" y="3429000"/>
            <a:ext cx="3144102" cy="156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23950" y="3429000"/>
            <a:ext cx="3144101" cy="156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868912" y="3429000"/>
            <a:ext cx="3144098" cy="156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54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4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473" name="Google Shape;473;p54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474" name="Google Shape;474;p54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4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54"/>
          <p:cNvSpPr txBox="1"/>
          <p:nvPr/>
        </p:nvSpPr>
        <p:spPr>
          <a:xfrm>
            <a:off x="2530135" y="1008459"/>
            <a:ext cx="7332955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REQUERIMIENTOS FUNCIONALES</a:t>
            </a:r>
            <a:endParaRPr/>
          </a:p>
        </p:txBody>
      </p:sp>
      <p:pic>
        <p:nvPicPr>
          <p:cNvPr id="477" name="Google Shape;477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5554" y="1879496"/>
            <a:ext cx="9382115" cy="318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55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5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484" name="Google Shape;484;p55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485" name="Google Shape;485;p55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5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7" name="Google Shape;487;p55"/>
          <p:cNvSpPr txBox="1"/>
          <p:nvPr/>
        </p:nvSpPr>
        <p:spPr>
          <a:xfrm>
            <a:off x="2037766" y="1026194"/>
            <a:ext cx="7918882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REQUERIMIENTOS NO FUNCIONALES</a:t>
            </a:r>
            <a:endParaRPr/>
          </a:p>
        </p:txBody>
      </p:sp>
      <p:pic>
        <p:nvPicPr>
          <p:cNvPr id="488" name="Google Shape;488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30135" y="1907932"/>
            <a:ext cx="6806984" cy="2666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56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6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495" name="Google Shape;495;p56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496" name="Google Shape;496;p56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6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p56"/>
          <p:cNvSpPr txBox="1"/>
          <p:nvPr/>
        </p:nvSpPr>
        <p:spPr>
          <a:xfrm>
            <a:off x="2530135" y="1008459"/>
            <a:ext cx="7918882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MODELO ENTIDAD RELACION</a:t>
            </a:r>
            <a:endParaRPr/>
          </a:p>
        </p:txBody>
      </p:sp>
      <p:pic>
        <p:nvPicPr>
          <p:cNvPr id="499" name="Google Shape;499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51909" y="1582847"/>
            <a:ext cx="9279348" cy="3474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57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7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506" name="Google Shape;506;p57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507" name="Google Shape;507;p57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7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" name="Google Shape;509;p57"/>
          <p:cNvSpPr txBox="1"/>
          <p:nvPr/>
        </p:nvSpPr>
        <p:spPr>
          <a:xfrm>
            <a:off x="2530135" y="1008459"/>
            <a:ext cx="7918882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DIAGRAMA DE CLASES</a:t>
            </a:r>
            <a:endParaRPr/>
          </a:p>
        </p:txBody>
      </p:sp>
      <p:pic>
        <p:nvPicPr>
          <p:cNvPr id="510" name="Google Shape;510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4250" y="1851038"/>
            <a:ext cx="7918900" cy="3155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58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58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517" name="Google Shape;517;p58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518" name="Google Shape;518;p58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8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0" name="Google Shape;520;p58"/>
          <p:cNvSpPr txBox="1"/>
          <p:nvPr/>
        </p:nvSpPr>
        <p:spPr>
          <a:xfrm>
            <a:off x="2530135" y="1008459"/>
            <a:ext cx="7918882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CASO DE USO DE ALTO NIVEL</a:t>
            </a:r>
            <a:endParaRPr/>
          </a:p>
        </p:txBody>
      </p:sp>
      <p:pic>
        <p:nvPicPr>
          <p:cNvPr id="521" name="Google Shape;521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1525" y="1499050"/>
            <a:ext cx="7159550" cy="353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59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9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528" name="Google Shape;528;p59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529" name="Google Shape;529;p59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9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1" name="Google Shape;531;p59"/>
          <p:cNvSpPr txBox="1"/>
          <p:nvPr/>
        </p:nvSpPr>
        <p:spPr>
          <a:xfrm>
            <a:off x="2530135" y="577638"/>
            <a:ext cx="7918882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DESARROLLO DEL PROYECTO</a:t>
            </a:r>
            <a:endParaRPr/>
          </a:p>
        </p:txBody>
      </p:sp>
      <p:sp>
        <p:nvSpPr>
          <p:cNvPr descr="data:image/png;base64,iVBORw0KGgoAAAANSUhEUgAAB2QAAAO8CAYAAACWXAQIAAAAAXNSR0IArs4c6QAAIABJREFUeF7s3X+AVHW9P/7XivxQQYwAFTHUFMRIMYUoijRATdNrXTU1u3pNza7fLG+WpVEqV2+WXkvzZmKWV9NUKq+maf7AKMpQr0oqghaSiPIjBEF+w34/Z37snpmd2Z1ZdtiFfew/CnvmzJnHnPM8L+Y17/e7rv75uvqI+vBDgAABAgQIECBAgAABAgQIECBAgAABAgQIECBAgAABAm0rUFf/vG5s25LaGwECBAgQIECAAAECBAgQIECAAAECBAgQIECAAAECBLICGrLOBAIECBAgQIAAAQIECBAgQIAAAQIECBAgQIAAAQIECNRIQEO2RrB2S4AAAQIECBAgQIAAAQIECBAgQIAAAQIECBAgQIAAAQ1Z5wABAgQIECBAgAABAgQIECBAgAABAgQIECBAgAABAgRqJKAhWyNYuyVAgAABAgQIECBAgAABAgQIECBAgAABAgQIECBAgICGrHOAAAECBAgQIECAAAECBAgQIECAAAECBAgQIECAAAECNRLQkK0RrN0SIECAAAECBAgQIECAAAECBAgQIECAAAECBAgQIEBAQ9Y5QIAAAQIECBAgQIAAAQIECBAgQIAAAQIECBAgQIAAgRoJaMjWCNZuCRAgQIAAAQIECBAgQIAAAQIECBAgQIAAAQIECBAgoCHrHCBAgAABAgQIECBAgAABAgQIECBAgAABAgQIECBAgECNBDRkawRrtwQIECBAgAABAgQIECBAgAABAgQIECBAgAABAgQIENCQdQ4QIECAAAECBAgQIECAAAECBAgQIECAAAECBAgQIECgRgIasjWCtVsCBAgQIECAAAECBAgQIECAAAECBAgQIECAAAECBAhoyDoHCBAgQIAAAQIECBAgQIAAAQIECBAgQIAAAQIECBAgUCMBDdkawdotAQIECBAgQIAAAQIECBAgQIAAAQIECBAgQIAAAQIENGSdAwQIECBAgAABAgQIECBAgAABAgQIECBAgACBFgSeeWmnmPp0v/i/F98Rs//eK+Yv7hErVm4bG+vr2DUjsE1dffTcfn0M6Ls6Br9rebxv3zdjzIGLYvg+Szuk2+I3usZrr3SPRa93jaWLu8bby7eJdWu3ifr6Dnm4Hfag6uoiunbbGDv02hg79V0X/XZdF7vtsSb67rKuwx5zLQ9MQ7aWuvZNgAABAgQIECBAgAABAgQIECBAgAABAgQIbLECb6/eNn58z57x89++K16c22uLfR0d8cD3HbQ8Tjzs7/HZY+bEDj3Wt+shrltXFy88tUO89Jft483F27brsWztT/6Ovutjn/eujP0Oeju6du08XW4N2a39zPb6CBAgQIAAAQIECBAgQIAAAQIECBAgQIAAgaoFrrlzn/iv2wbHW293zTx2QN9VMX7kghg17B+x315vxe79V8aOPddHMgLUT3mBZATxWyu2jVcXbh8v/G3HePy5d8ZD03eO+Yu3yzxoxx3Wxb+fPDvOPeGldmF89vGe8cwfe8baNdu0y/N31ift1n1jDP/gijhg1IpOQaAh2yneZi+SAAECBAgQIECAAAECBAgQIECAAAECBAgQqEQgmZr4gmv3jydm9slsPnbEwjj943PiYx98vZKH26ZCgd/8cde46dd7xiNP9M88YsTQJXHFF2ZstqmMk6mJp/22dyx8rVuFR2yzWgj0321tjD5s2VY/lbGGbC3OHvskQIAAAQIECBAgQIAAAQIECBAgQIAAAQIEtjiBux4ZGJ+/4qDMurBDBi2Pb57+gkZsjd/FpDF76U37xay5vTKjjX94wVNx/Nh5NX3Wl5/fLh679x3Wha2pcuU7T9abPeToN2Pv96yq/EFb2JYaslvYG+ZwCRAgQIAAAQIECBAgQIAAAQIECBAgQIAAgbYX+Mmv94wvf/+AzI5PPfKVuOpLz5qOuO2ZS+4xaYB/+XsHxM3375H5/VVffDb+9eNzavLsM5/eIf7wQO+a7NtON03gQ0csi6EHvr1pO+mgj9aQ7aBvjMMiQIAAAQIECBAgQIAAAQIECBAgQIAAAQIENo9AMjL2c98+OPNkF542M87/9KzN88SepUDgyp8Nict/OjTzdz/62pNtPlI2GRk75Z53UO/AAoces3WOlNWQ7cAnnUMjQIAAAQIECBAgQIAAAQIECBAgQIAAAQIEaiuQrBk77pyPZKYp1oytrXUle883ZZPpix++7ndttqZssmbs3T/tZ5riSt6Edtwmmb742NMWbXVrymrItuNJ5akJECBAgAABAgQIECBAgAABAgQIECBAgACB9hU4/Nwx8cTMPplpiq8+75n2PRjPnhE47+rhmemLRwxdEg9eM7VNVP73f/rGwte6tcm+7KS2Av13Wxv/9C+La/skm3nvGrKbGXzLebousWxJ95j7cp+YPrNfTH+uT0x9efsYc8G9ccOodnoVa7vGwhXbx4vP7RR/eaFPPPvX7DHtdNJj8fgJy9vpoKp52q4x9fox8alf9Io1XVbG0ef+KW4+cks47mpeo20JECBAgAABAgQIECBAgAABAgQIECCw5Qhcc+c+cfGk98SQQctj2qRHrRnbQd66ZLTy6DM/GrPm9oqLz3w+zj3hpU06smcf7xnTp+y4Sfvw4M0rMPLQt+KAUSs275PW8Nm22IbsQ1ccG596uIRMz3lxxy1PxvieRb+bPyRGnTo0ZpfC3GNmPD1pVgyqIXSH2PWivePwk4fFExHR/ehp8fq5i8oeVjnf4ybe3U4N2QFx1viRMbnEEQ8+85EtoyE7/eDoc9HA1CtYEtfcMTVO6dMhzg4HQYAAAQIECBAgQIAAAQIECBAgQIAAgU4l8PbqbeM9Jx4eb73dNX52yZ/jYx98vVO9/o7+Yn/zx13j0996f+y4w7p4/ucPxg491rfqkNetq4vbrt051q7ZplWP96D2EejWfWOc/IUF0bVrffscQBs/6xbbkI0NXWL2U4Pjq/85JKYWN8gHz4zHr5kVg7sUaq1Z1jum3j0szrq1XyxLfjVgXtx8ybNx2O7ronvRtm3s3CF2N/vmw2LUrdvnjmVB3HDPn+K47cof2ppFA+MLZx0ck1O+7deQTY6zSyxb0Cd+cOnouCrVWd9iGrKPHxx9JmjIdoiLwUEQIECAAAECBAgQIECAAAECBAgQINDpBfKjY8eOWBh3Xf7HTu/REQGOv/CD8cgT/TdplKzRsR3xna3smLamUbJbbkM2/16lRn2m375BJ02Jp0/PtF2b/Ey95qg49t6u0b7NxcpOtjbbakO/+Ooxo+PGtY17HHHOA/HgsaubfYq5d46NAyf1atimQ5gVNTa3mIZsFE5ZfNwFf4gbDl3ZZm+xHREgQIAAAQIECBAgQIAAAQIECBAgQIBA5QIfPGNsvDi3l9GxlZNt9i3zo2T3HbQ8/njjI616/smT+sebi7dt1WM9qH0F3tF3fRx35sL2PYg2evYtvyEbveK6M8fGhFeKRdbFcRN/GzeMWteUatrI6HNxr5h48yNxzoA2kuzgu1kz5QOx6+U7Fx7lzrPi8VtnxuBmjl1DtoO/sQ6PAAECBAgQIECAAAECBAgQIECAAAECBKoWeOalneKj/3ZIDOi7Kp67/cGqH+8Bm09g2EmHx/zF28Wj//1YDN9naVVPvPiNrvGrn/Sr6jE2LhI487E4c0zErM8cElPbAecT/7oo+u5SotfXDseyKU+59TRk+8+L414YWDC9bsSymHjTlDhn9yKizAjLri1O2bspsB3rsT3ixnOPiOt2mxf9Hx6YWUM2+7Muzrj6vvjOsPJHqyHbsd5JR0OAAAECBAgQIECAAAECBLYsgQFx1viRERPvjhtGNX/kD11xbHwqpseSC+aX3zDzmU7EHQ89GeM7NET2dU+OeU2PNT/z1x4z4+lJs2JQ+nVkfte7jQYRZAcx3DL+kXj8hOUdWqv8wVXhuMWcG1voW5E77PxnhU1nrGscNJOdYW9rOP/a473KnfPjirMw6/nsZ1vO0vY46i31OfPTFZ965Ctx9XnPtOHLyGdX8S5L3BOqfNbMvfLhyvbz0BVjY/Znto5BaeddPTxuvn+PVk1bXLvpiq+M4285Klb+bGjc90Azb+QRd8apn+4fc5prZiYNz4MXxp8/d0LMqPKcaPPNmxzv5+KoH30p4lctvM42P5DGHW4t0xZvPQ3ZvafHkpN7xSGnDy08YXvOiztueTLG90ydDS0WaF1i4eyBce2kveOuF3rFwvw0v91Wx/7vmxtnnDYnTnl34VS/a5b1iLlz+saM2X1i6l/eGb+d3TN2+efH4rFcwbtmRY+Y+3L53zcc3bJ+ceNNQ+PGqb1j9orcwrY9V8f+w+bG8f0GxIRVM5v/h0mpk37+kBh16s5xxm3TYqfrjo6zpjVu1P3oafH6uYvKXirlG7KV3VTWvDogbpy8d9zyRK+Yvahrw/N077M83n/orPj+6fNiULfST79m/oC48ZYhceWU3rFsQ7LNhug/eHF85l1d46qH+zQ8qNyUxWteHRhX3rBP3PJ/vRvew3LPm7w/b8zvHTNm9YmH/tIvpj/bO2aPmB5Lzl8ST9x9YHzl9p1jxpLk/dgQvQfPi2sufjqOznyppmvMfnBofPW2QTF1fqnf5w5zQ5dYtqxnPPvcTvGXF3aOh6b3iWfnr4nzb54S5xQMXM6ee5Nu2Stumd0zFmaeM/vae/dbEeNPeC6+e/Si6N0J1jyuYX7bNQECBAgQIECAAAECBAhsNoHO3JAdGjP26BX7FzVQsh+mR0SThmzScBkZcUn6w/PK/Zq+pVtDQyx5/RU6tvh532Y76bfqJ8p8VvhQxODkywbpLxRkPn8cGrMjcsvEdaTzb1Ouo839duY/c11e9MWM2jdkK/pSzObmqPHznXbpyLjn9wPih199Kj41/tU2fLZSjfVyzfY2fNrUrrKf60cbfcGnNsdYzV7veGj3+Px3DopjPjw/fvrN6dU8NB7+1TtizovbVfWYyjausCFb2c5s1YzAnvuuinGfeHOLN9q6GrIXzI9ljx8cwycMjILVY0c9HXMmzo3e+beruQJtbe+48Zsfiq8+lW0e7n/StLjzlEXRP3rEvVePjVMfzv59/5Ez4p5L/xaDk8ZY0Zqm+adpaBS29Pv8A14d0thQHjwrHrtyZuy/XUTSWPzKNw6OW5MviDb5dlTL5+Dsmw+LUXNeiNcvnhfdnzkwdv3KoFjT8LAFzY4UbnaE7NquMfWmsXHsL3pEdFkex50+M84/ckEM7pl0T7vEjJvHxCG35tSHPxcvXvZy9O/SI+69stExkob5bU/G+KI8XDhlZIy5fEBkZwZfF2NOeTq+c/TSWP3EfnHqlQNjbuplN23Ido2p1x0ax969ffY9PH1KPHjSslg9dWTsO3FA9rV3WRYTJ+VGT6cKxgLNQ2fFNW/tFefO2hD9o2sszDfIMxstiBsmPxer/3NM6d8XvK5y02oXF1Y9YvLFY+OsadlzrPfRf4oXz1kQ3Tf0jqvOOzQuSyra5Gfwc/H0dS8XfoO25dPAFgQIECBAgAABAgQIECBAoB0EtqRGSFvyZBuJMS5icqS/XJ9tuj67d8Tkl+c1HSHb5BA2xa8jNcRaa9tWjq19fo8rFsh8VjhnWRz3cO84IL0cXPL55+8ijnt4YEUj4jev7KZcR5v3SCOyxzpjj+UxO9IZoSFbi3civ37s766fEu99d0FHYROfrlTzNfcZceRnRyj8zLjgM+7059Xj5mWuq8m5vkDxCNnCz+9zI2eL+hHJqPXjf5cdWXvcuIEx+eHcFyfe1fhFiszHzmfmZlTIPX+Mmxfx8MCYnfkC0fK4LDPzQ+4j6vy2mT8WDt7KjpLfRMKih//lr73jI2cfGq1ZR7Z268emG7LJKNJvxvZLX4qdBuyTPfr5t8ekC86PKB5xmvnz6MiMU1s5LTsqtmCEbLLfk2KnvEHBft4bsXLH6Lb9S02nD85MK5x77kj/PntsA7Ltklg6dbe4a1L2/8dc8VoMyS/rWe540/vNH28083rb9q3P7G1rWUd2q2vIJm/OjJsOi0Nuz51duTd//zMfaRitmm2glprepkfc+pUj4tz87AR9/hYP3jYjRjQMUuwXXz1mdNyYGzHbe9z0eOaC+dlG76recdX5qaZZOsCS368tbOgWBFzmGHvHZaccGlctKBVoyQDJXnHV2WPjsmQkcHNT9xSf7Buyx7x0Qj4EC58n2XzEOQ/Eg8cWjvjN76bZhuyKAXHWZw6KGWOejjvOKR7pWjyCNjWNQtENYcx5D8TdR6ae/7n9Y8/z9mpoqvc+dlrMOadxFO/Cu8fEvteVHyE7+85DY9SkXCO4z8vx2B3Pxf6ZF9QvvnpU4/sX6TV0V/WKW68YE+fmmqHZ178yzrhsanxnZHJsXePeyw+LU6c0jvJNmtBnXDqt7O8LXteGLrHwL0PjhK/snRrBXdSQLW4Mpxqvhe9Dy1NN1yDz7JIAAQIECBAgQIAAAQIECLRCIN0IyTUI9859wJvZW+PnBcWjsxpGkiab5b+gXvyZTsG/pYu/+NyKw22zh2QbiQdMnBe3TOgVE/NTLCfH+62IieMHxqceSjVbSr6Owg/rGz7gbu41p3+3x7w4LgbGjNSUxSVNk9dc8FnNFupY9vO+fGN6Zuw/aWi2mZAanZyYTIh002FWDGqVcWSnlN17XkxOmpK5c7bgM52CUdFFX+AvGoRR9r1qs3O0dTvKNmRnxh0xMibs2TgddnK8d31kesSE/BTlLXwhoJlzPj3NdnEulPXMvf/5ZlPy6rLNpez7MuGV7OttuI6KPp8sNwNf65Q25VH5zMxazmhoejVtyJY9R4o+YyxsjpVunBW4JufiRwZEnx9HJkMmv9KYCa17zk3xqO1j9zj2qHjr7a7xt1/eFzv1asv1KVseIVvQWM2dj+npvie8UtRcLdWQzTdOM+dJr+xU+QXZ0zhCNv/eNZ4PhedU9ve59zpyjdqirMxPlTy4YPRtYaM5ajQyd+nyrrHXJ4+KHXdYF6/cfV9VJ8bN/7VLrF2zTVWPqWzjpg3ZAZFqsI7ZOeYn0xlHesriwlG1SUN0z6WXxs2LT8pNWfxI7P6jb0bfVy6Nm//zR7lm7ntjccN+RsfKVEO18TgL97v/12fGgfG9zD4yTdfINYczzdXcce2eniY5NS1x+nhzzePsc+Yau0uTfb2UbfKWer3NTd9cGWyTrbp13xin/vsbrXx0x3nYVtmQTZqX1507NibkRxRmvNfFcRN/GzeMWpcrMps2ZNdM+UDsenlq/tjD/xRLzs91SDP76BKTJxwdZz2efwPXxRnfvS++Mzz352kjo8/F+a8TpL5Rkt+82Rt9UQOz54K45prpccrumbl6sz/J6NZJy+PxKkZHZl7Tlavj7nuejjG5xnJxQ7OgMVl0bpZtyC4bEGedNix2+nq+YVl8UneJJyYdEsfc2SvWxIYY/M+Px4NnL8o2r4ucosC5uGG8PC666ZH4cnod4OYcF+0dh588rHGd3IJidvu47pzDUufF6vjydQ/ERYNzx/7q0Bh1+pDM1CqZn+LRyMUjnVv4ff+TpsSLpxd+s+rey4+NU6fkn6Dp1CO3XvyBOHda8mWC1TH+vGlxx5HZNV5m3z42Rt3UqwF5/7N/G4/988qOkySOhAABAgQIECBAgAABAgQIlBRo2pBt+JA5ch/i5r58nm68ZKdFzTcsU42ddw1Jfcm+cNRb9jOMZR1kfdlcQ/bm6RHfalz3MTnGZJ3cpJnV+PqKRu8VNBaLR/Y195qLGmC5zzHyjaZC09wovIYP8Yc2jnZMHvfj5RWM3t0cp3wVji00ZCc0NJVKnHcF6zG21jjX+GsY/ZZvdDd+BtnkHJ+THz1d2Bgp/161/1rA+YZstmGXP08SswFx/EPz466GNaOba8iWO+dnxeyidY8LGrJF73HT3w1sHOFXsB5zqeuo6JzvMGtTp4410oOKKj1Hcl8MyE+VnmnY5b8UUiojGtesLuWZbuaWPy+be87NkROtf46+h/1TbKyvi8W//d/Ypq6+9Ttq8sjiwUrFnzcXN2xTmfyhAdnpvxs+ey7ctqCRm2q+F3+poHjK4rJrz5b6ckSuIRupUbCNzfii9WsLmsLL/9+o0Gwzd/82HiWbvE/J+5W8T8n7Vc3Pjd8eEPVt+fY2PHnThmxDIzVSv0s3OMutFVt2Ddni/eSas02anuWmT86Oto2GJm5uZOuTu8VdUWbd2vSI3uLjyjR0I2Z95vbolW4cp19vDRqydXURZ3wtmUJ2y/7ZOhuyyXuSGb05MiavSL9By2LiTVPinNdKj5At+IZP8QjX3G6euO6oOPzu1Fqox06L1/OjN1v6ZlWzvy8avZk/7G4rY8y4ufHZo+bGYYNXR/eqzrceceO5R8R1B02Jp09NNQZXDYxTjzk47m3YV/kRlyUbsrvtFceeu39MXbEujrv4t3HD6Aq+PbSqV0x9eGBc98Be8dDs1CjT5BjSjc0m0weXWKC8Gce5vzg0Dry+YXLqGHz6I/H4SY3FavF7XDCKtfi5N7EhW2p66cLnb/4bp2uW9InfPjwofnzfwNz6tI1vfsf51l5VJ6SNCRAgQIAAAQIECBAgQKDTCZQYIVs8YjOys4E1NgOWZ0a0pUfJNbClGzJNGnAdaVrSfCPxkfj4H7JN2PxIvWc/e3dc9PdUw7lJAzTdeGmuWZuopH6fmXpyYHymYRrZdPMl2zBJmzY2V3LTULZimazan85VOpZsqhU2YDPHnDp3IhkVljsHi383PvMXrTfOjL5NjSLNNiqyzbHCEWZpyaaNzMJGWO3Vm3uGhobsBZFrwj4Z4xvO4ey5FJlGTDMN2RZHMxeOvM2/P815Zo4h/f5nrPPXQ/PZ0PG+zJE3jCa5mORHKdvGc2R+/DoZEZz+YkD+DS0wSf6y8D1qrvldvG3y6Iqes31P1xafveYN2YJRrU2nBC4YT5YcbbL9Z3plGpqNzdBmGrKRO0eSdclzPwVfwkmtIdu0IZtvGmc/o07uVQ1rzpZoyOYbrY3HXHp65OLjaPFNqHCDLaUhu33S6MxMB1y6Ibv06zPj/Xv8JTtNcfq1pxufBVMPJxu9VWKkbQm4UlMhZ44jNf1x7mFrX8iOwE1G0r5/vx0zf5v/u/QUy02Ot6FZm23Ilny9GrJlz+qttyGbvOT0mqx5gp5/iwfP7xaHX1w8QrbpOp+lml7FDcoY9XS8PnFutlG6SQ3ZiOJmYpN3rc/8uOEH0+O4fhWm1CtD48AzhxSst1rukd2Pnhavn9s4LXB+u+LXO/6EWbH0F0PiifzA3W7z4+Y7psfRPUvtuUvMnb53XHbT4Jj81y7ZdWbPnhH/0WdQ7DtxYOMD0gV/8SjUgqlccg9pxrm44dqSVNm5+fM3wPT00FWOkG1VQ3ZDj5jx8OD45s2DYuqiLhF9lsQ55zwdx782Mg5JjZDVkG3pnfV7AgQIECBAgAABAgQIEOgYAq1pyCaNnsaGRMHrSDVdMg2t9LS/6cZZG69dV71lYyPxnL/nRpxeEvGpdDMud+zZ6R0bZ8XKP1f23/7ZKSizDa50A2RWDMpsWG40XXYvjQ2swv0kvys12i2/NmCpzzSqN2iLR1TuOKiKJl+6MVrckG3a/GzOuLmmd9PPGrMijV/QL/zcLf/3TZuHHbMhm/3iRNIgTNamzDae0+dZ+YZs+dfT9DHFX9TITz3ceHbl3JLrrOKGbNHancl6ra90pNH1qfxrGG34SBzw4/xo+5bOkaJzL//5apNrpJqGbCufsy1ioIb72HxTFhc2P88ZUDxCNvUi84OGKhkhm7Zp+Oy6RIN1QL5x23RZwfwo6IIRtaUasg3PlTq/SjaQa/OGbSlTFrfUkJ3a4gjZv8eQghGtZUbatsCcabTudF9MuiDi+FuOipXJlMfNNkpTI2dfTU2x3MII2c3VkDVlcW2uq1bstcS33FJ7Wfb4wTF8wsCG9UiTX/XuuS6WrVhQNIVNKxuyh06PJRfmhkpvYkM2mRJ59t0j45jrd46FqZmKC1B6zos7bnsyxm/XMtXUa46KYxfMjKe/PD+abD5zWBxw8cBY07CbBXHDPX+K44o2bNKAHjA/ju42IO7NrbuQPLz7odPjxQtza+k27K9rPHTFYfGph3OjYZPG7W3T4+hk8GpxYzM9ZXEbN2SLR8g2q9beI2SLp9reY1Y8ft3MGNwt94+k1D/OTFnc8vlvCwIECBAgQIAAAQIECBDoCAKtachuXSNksx+8D40YFzE5slPUFjSkmp0ieHOMkM03d3PnS42mm2zd2ZhqyFbi2NFHyDaDkGk8vjwznp6UHeFYejRz0XvVOtRNelTjCNnceTxnWRz3cO/clNfNX+8NT1xF8zw9arPJCNn0K6lmhGzxtmWPZ5OoWvngco3PZZn1XKPFEbLF50jxVLjlRtEvT43GnV9iyb9qRm6nnvOE9p9mu7k34oNnjI0X5/aK310/Jd777sKl51r5BuYe1rTh2vA5e6m1YHOfiZdaQzY7mr5XwyyT5deeLWy6Fo/CbzJCttT6s/kvjDRpyBauE5tfZzs7irdwuvZarSH7l7/2jo+cfWjsO2h5/PHGR6p6eyZP6h9vLt62qsdUtnHTKYtbbMhmRpg2TjvcsL7rywfn1pAtbMhmR7BGyyNk09MMR2RGvpZcQza1Juysvvmm7fkR0bo1ZDdXQ/YdfdfHcWcurOxt6cBbbd0jZDPwXeKhK4+ITz1YNE1uNJ0Kt5Ipi2fcdEQccnuPhre0YJ3QTW7I5na7oUss/Ouucdd9e8WND/eJuWsLz6BTLrs7rhnZwlmVm5Y4Lrw3bj60VHe3eK3WiBHnPBAPHru6YMelpywuWmv1/y0LO/7C++KOQxunLi5ej7dip+J1XEu8T82NRG4yyjjdMG/pQmznhuzsmw+LUbcm68dmf8ZfeG/ckXvvyq7l29Jr8nsCBAgQIECAAAECBAgQINCuAq1pyBY1LPN/HLtnAAAgAElEQVRTMibTyibrVjY03QobFx1v2tHGNSrznzkVjERqGN1b1IApaIgWN2eae81FgxaK1vUru/5jZr3CdJMm3QRt15MnNwK4QscW15DNfxZYfu3i7Ktt2bihWZr7LDA7mrnptNDpqZGT6Y/T52jJkbm5NWW3iDVkk1nl8p+lNcxwV2FDtng0e2oq3cG35BvTSWOxqKlV9B4XXPNVN2Tza6fmB+mUWDatXU7/UtMrNw4kai5DZpQYVZ+farjkVMcZs+bWkC2cYbL5dajTsxoUrnfbLowVPulpl46Me34/IH741afiU+NfrfBRlWxWagRs8ftYNFI7tV5rwfTA4+bFcQ8PjMmlGrkNudI4y0LDur9F68tOnDM2PlWwXnbhdMeDMyPFe0Xm8Zkp8NPTJjdmY8NMCgUzW+ZHAGdt0msPV6JVyTZ3PLR7fP47B8UxH54fP/3m9Eoe0rDNw796R8x5sYIRblXtNdm4FQ3Z5GHpKYlXTstOX5waiRoF0wjfHov3OCk7NXB65GqJY01PPxz5/Wa2y45+HZBrPTRMTVzu74uauyWPN/fYzdWQ3XPfVTHuE29W/Q51tAdsPQ3ZPVMjVYuVi0ceZn5f4ib7zIGx61cGNY4aTY/czDymS0yecHSc9Xj+CVbGlyf9Ni7aI/fn4oZs0fqlzU5pnDz2vkUxZ+LcaFwBNfucs28fE6NuavzbSgJt4d1jYt/r1pUc9Zo/+uw2fRq1dp4Vj986Mwan/Mo1AmffPjZGpabQjVgQN/zqT3Fcburi4scVTLHbbOO6uFG8Ls747n3xneGpg2ru8U2maS48rvSpMfvOMfGFDc/GPScty0453c4N2eIvBKTfZw3ZjhadjocAAQIECBAgQIAAAQIEKhNoXUM22XfBv5PLTblZ8G/5xqlgKzu2Wm5V1NQs1UhKT7dc9JlE+nOUvEPD3zX7mtMfis+L48YNjBmpNUwLTJtZQqrjLJVUhWNLoy73nhfx8MDIrH+YaiQUrJuZPyWaM07/btzMmPjy0Nxo1hIN2SbNkvQ5WjxbX+FnlWXfq1qethXsOz1Ctum6opU2ZJt+DleqiZR8fjvxzN4xIdeoTg6v9DTPhesCZ9b+LVovtfA6yo3oy8wAuDwmTpwXt0xIfymhAoiabVKqIds442D688Ky50izn3E20zjLf+aaXB+f7RUHlhhx3rrnrBnWJu/4mjv3iYsnvSdOPfKVuPq8ZzZ5f22zg+ZGo3bsEcdt8/pL7+W8q4fHzffvERef+Xyce8JLVT3Vs4/3jOlTsuuk+tkyBUYe+lYcMGrFlnnwqaPe8huyG/rFV48ZHTfG3Lj7nqdjTJcy78mKAXHWZ0bG5Ib3rNS3nnrErV85Is7NZ2+3on3mRp3em3uK3uOmxzMXpKbqfW7/2PW8vRobusmUs9fPjMHJMS3rF5dNGBVXzUwd4B5/iwevnBEjUtP47n/6lHgw3yAsWQQuiWtumxqnNLeO7Ibecdmph8ZVe6bWty3FUvR6Ipo2P8s2AvPPsSC141FPNzSUS621m2k2l2iOFxf5y6Z8IPa8fOfGHSdOV8+IEUmzd0OPeOKm0XH4nam1VfaYFY9dPTv275mMBC4xInrwy/Hg5c9lnZOfZB+3fiAOvzVi4k1T4pzdc3/fwRqyg06aEk+fviyiyblbm28ZbfFp5gUQIECAAAECBAgQIECAAAECBJoIlF/LdNOxtpyRgJv+Wu2BwNYn8MxLO8VH/+2QGNB3VTx3+4Md5wVWsqxfxznazXIkw046POYv3i4e/e/HYvg+S6t6zsVvdI1f/aS5hkpVu7NxOwh84l8XRd9dGmdobYdDaJOn3KIbsmsW9Ylbrh8ZX52anUK490Gz4oazX44xu6+L7qUas68OiUNOHxozMluXmYZiQ6+49aIxce5T2SmOBx07PR48c370j+3j1ssPjXOnZf++/5inY+qFc6N/wfP0iuvOGRsTMl+1y/10WRf9+0QsXLIyJp6yOibcnGo05jbJNCTfNST6TBiY3ffIWXHt2bNj/O4bItb2iKm3fiCOvT3pJq6LMedNjbuPLP9NmDWL+sWVE3ON356LYuK3no5T9lsZvbsVnS9ru8bcVwbFV88bFg+lp0TOPeaM966M7ht6xOQrx8ZZUxqne+497sn487nzov92EWumHxz7XlS4Pu/+J02LO09aFP3f3DsOOXVYzjr33D1XR/9YF8d8fVbEJQfHjfnn3eNvcfd/zI4DdlwdvTMzB3SNqdcdGsfe3Th9b8SG6N9vXcSyrhE9N8bCJcVTUEfDPPqxYfuYfPmYOCt3XuRfefc+q6N3l4g1S3rEslgWX776D3HR0NxFvKFLzL53dIxKjxhON8yTnvr9o2PPq1PBXcHv777i+RjTJztl9JolA2LCuSPjxlQTO+N1yqLo3620Z3LMPbosj4lfWhC3XDQsnsi9mO6jZsTvzpsfO/dc3fS9bZNosBMCBAgQIECAAAECBAgQIECAwNYg0JYN2VIjdhunfN0atLwGAp1NIL+O7M8u+XN87IOvd7aXv0W83t/8cdf49Lfe36r1Y/MvsHbryG4RhFv0QW4t68cmb8IW25Atnt41fUY1N61K4+jL5tYF6BILZw+MayftHXe90CsW5huHPVfH/qPmxEUnv5xtlpb6WdEnrrvy4PiPadtnR8p2WRf7H/5cXHP63Nh/1sHR55K+MXi/JTFy2JIYP3RJ7D9kWQzqvSFi9rDY99Ku8R+fWR133TMopv+1RyzLP0X+eT/zcowfUOZ5i6fyKTi2oil7ikeClnoduy2KPV/rF3NKvsi8XdeYPOGo1BTO+Y2zvx85c0ic++3Bce/8pGu9IfoPnxvfPe/5OHrAhlhW9Lve/VbE8V/6U3xnZOMatgufGhLfuGnvmDw7ab5uiN6DF8RFn58RZ6wclnHsv8eyOOy9S2LMfkti/2FLY1Dvwkb8sr8OiiuvL34Pl8X4Y1+K75w0LwY1NKkLp+oofMnZ15JZ1+PhUhgt/T47mvWiv+cWX2/WM2LhtAPjhCsHxowVWbP9x82M7579cmZ0b/Hv+u++LM6/aGqc8e4tOk8dPAECBAgQIECAAAECBAgQIECghgJt2ZAtnjLXLGY1fOPsmsBmEchPWzx2xMK46/I/bpbn9CTVCRx/4QfjkSf6t2q64vwzmba4OvOOtPXWMl1xYrrFNmQ70gnhWAgQIECAAAECBAgQIECAAAECBAgQIECAAIEtS+Dt1dvGe048PN56u2sYJdvx3rv86Ngdd1gXz//8wdihx/pWHeS6dXVx27U7x9o127Tq8R7UPgLdum+Mk7+wILp2rW+fA2jjZ9WQbWNQuyNAgAABAgQIECBAgAABAgQIECBAgAABAgS2DIH8KNkhg5bHtEmPxjZ1W0fzZ8vQL3+UG+vrYvSZH41Zc3tt0ujY/DMYJbvlnRFb0+jYRF9Ddss7Bx0xAQIECBAgQIAAAQIECBAgQIAAAQIECBAg0EYCh587Jp6Y2SdOPfKVuPq8Z9por3azKQLnXT08br5/jxgxdEk8eM3UTdlVw2P/93/6xsLXGtYybJN92kltBPrvtjb+6V8W12bn7bRXDdl2gve0BAgQIECAAAECBAgQIECAAAECBAgQIECAQPsLPPPSTjHunI9EMirzwtNmxvmfntX+B9WJj+DKnw2Jy386NDNa+eHrfhfD91naJhqL3+gad/+0X9QbBN0mnrXaSV1dxLGnLYq+u6yr1VO0y341ZNuF3ZMSIECAAAECBAgQIECAAAECBAgQIECAAAECHUXgrkcGxue+fXDmcDRl2+9dyTdjkyP40deejOPHzmvTg3n5+e1iyj3vaNN92lnbChx6zJux93tWte1OO8DeNGQ7wJvgEAgQIECAAAECBAgQIECAAAECBAgQIECAAIH2FfjJr/eML3//gMxBJNMXX/WlZ60pu5nekmR08pe/d0BmmuLk56ovPhv/+vE5NXn2mU/vEH94oHdN9m2nmybwoSOWxdAD3960nXTQR2vIdtA3xmERIECAAAECBAgQIECAAAECBAgQIECAAAECm1cgGSn7+SsOykxfPGTQ8vjm6S/Exz74+uY9iE72bL/5465x6U37xay5vTIN8B9e8FSbj4wtJk1Gyj527ztMX9xBzrVkmuJDjt46R8bmiTVkO8jJ5jAIECBAgAABAgQIECBAgAABAgQIECBAgACB9hdI1pS94Nr944mZfTIHM3bEwjj943M0Ztv4rUkasTf9es945In+mT2PGLokrvjCjDZbM7alw03WlJ32296x8LVuLW3q9zUU6L/b2hh92LKtbs3YYjIN2RqeRHZNgAABAgQIECBAgAABAgQIECBAgAABAgQIbJkC19y5T/zXbYPjrbe7Zl7AgL6rYvzIBTFq2D9iv73eit37r4wde643rXELb28y2vitFdvGqwu3jxf+tmM8/tw746HpO8f8xdtlHrnjDuvi30+eHeee8FK7nCjPPt4znvljz1i7Zpt2ef7O+qTdum+M4R9cEQeMWtEpCDRkO8Xb7EUSIECAAAECBAgQIECAAAECBAgQIECAAAEC1Qq8vXrb+PE9e8bPf/uueHFur2ofbvtmBPYdtDxOPOzv8dlj5sQOPda3q9W6dXXxwlM7xEt/2T7eXLxtux7L1v7k7+i7PvZ578rY76C3o2vX+q395Ta8Pg3ZTvNWe6EECBAgQIAAAQIECBAgQIAAAQIECBAgQIBAawWSqYynPt0v/u/Fd8Tsv/eK+Yt7xIqV22bWm/VTXiBZF7bn9utjQN/VMfhdy+N9+74ZYw5ctNmmJq72vUmmMn7tle6x6PWusXRx13h7+Taxbu021putEjJZF7Zrt42xQ6+NsVPfddFv13Wx2x5rtvqpicsxachWeQ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hqyVYLZnAABAgQIECBAgAABAgQIECBAgAABAgQIECBAgAABApUKaMhWKmU7AgQIECBAgAABAgQIECBAgAABAgQIECBAgAABAgQIVCmgIVslmM0JECBAgAABAgQIECBAgAABAgQIECBAgAABAgQIECBQqYCGbKVStiNAgAABAgQIECBAgAABAgQIECBAgAABAgQIECBAgECVAnX1b91ZH3V1EVEfEXUR9fXhzzycD64HeSAP3Q/cD9UD6gH1gHpAPaAeUA+oB9QD6gH1gHpAPaAeUA+oB9QD6gH1gHpAPbDp9UC2IeuHAAECBAgQIECAAAECBAgQIECAAAECBAgQIECAAAECBNpcoHGEbH5krP9mRwhz4OA8cB3IATkgB+SAHJADckAOyAE5IAfkgByQA3JADsgBOSAH5IAckANyQA5sYg4YIdvmPW47JECAAAECBAgQIECAAAECBAgQIECAAAECBAgQIECAQFagrn75XaYsdjYQIECAAAECBAgQIECAAAECBAgQIECAAAECBAgQIECgBgJGyNYA1S4JECBAgAABAgQIECBAgAABAgQIECBAgAABAgQIECCQCNTVv3VXfdRFRDJONvPf+txc4Pk/F//X77NrzPIpPG+cP64f+SE/3R/cH9wf1QfqI/VR+t8V6kP1ofpQfag+VB+qD9WH6kP1ofqwaQ64P7o/uj+6P7o/dsb7oxGyGvMECBAgQIAAAQIECBAgQIAAAQIECBAgQIAAAQIECBCokYA1ZGsEa7cECBAgQIAAAQIECBAgQIAAAQIECBAgQIAAAQIECBAwQtY5QIAAAQIECBAgQIAAAQIECBAgQIAAAQIECBAgQIAAgRoJNK4hm3+C/Nqo/pwV4JFdW9j54HxwPcgDeSgP3Q/cD9UD6gH1gHpAPaAeUA+oB9QD6gH1gHpAPaAeUA+oB9QD6gH1QNX1QG6EbJKg+Tup/2bvqBw4OA9cB3JADsgBOSAH5IAckANyQA7IATkgB+SAHJADckAOyAE5IAfkgByQA5uWA9aQrdHQY7slQIAAAQIECBAgQIAAAQIECBAgQIAAAQIECBAgQICAEbJGwoZvtvhmi2+2bNo3W/jxk6NyVA7IATkgB+SAHJADckAOyAE5IAfkgByQA3JADsgBOSAHyuWANWSteWDNA2seNH41xfXgenA9uB7yAvJAHsgDeSAPsgLyUB7KQ3koD+Wh+4H7oXpAPaAeUA+oB9QD6gH1wCbWA6kRshJFokgUibKJieITy9yIc3kqT+WpPJWnPrHxiY1PbNQD6gH1gHpAPaAeUA+oB9QD6gH1gHpAPaAeUA+oB7IC1pBtPBP8HwECBAgQIECAAAECBAgQIECAAAECBAgQIECAAAECBNpUoJkRssVzfeeft9wc4H6fFeBTeo5054fzw/UhH+SjfCy1hoT7g/uD+4P7g/uD+4P7Q9MccH90f3R/dH90f3R/dH90f/T5fGEOqI/UR+oj9dGWXR8ZIdum/W07I0CAAAECBAgQIECAAAECBAgQIECAAAECBAgQIECAQKNAXf1bdyUtZT8ECBAgQIAAAQIECBAgQIAAAQIECBAgQIAAAQIECBAg0MYCRsi2MajdESBAgAABAgQIECBAgAABAgQIECBAgAABAgQIECBAIC9ghKxzgQABAgQIECBAgAABAgQIECBAgAABAgQIECBAgAABAjUSMEK2RrB2S4AAAQIECBAgQIAAAQIECBAgQIAAAQIECBAgQIAAASNknQMECBAgQIAAAQIECBAgQIAAAQIECBAgQIAAAQIECBCokUBuhGxdRNRHhP9ycB64DuSAHJADckAOyAE5IAfkgByQA3JADsgBOSAH5IAckANyQA7IATkgB+RAW+WAEbI16nTbLQECBAgQIECAAAECBAgQIECAAAECBAgQIECAAAECBMqMkM3DlOt8+31WgE/pbwY4P5wfrg/5IB/lY6lvULo/uD+4P7g/uD+4P7g/NM0B90f3R/dH90f3R/dH90f3x+IcUB+oD9QH6gP1wdZWHxSOkM2/v8V578+F+c+DR/p+6HxwPjgfGusj14PrwfXgelBPZv+9IA/loTyUh/JQHrofuB+qB9QD6gH1gHpAPaAeUA+oB9QDuXogNUI2f1bkv5Hlz1kBHtnKyfngfHA9yAN5KA/dD9wP1QPqAfWAekA9oB5QD6gH1APqAfWAekA9oB5QD6gH1APqAfVAtfWANWRTrUb/S4AAAQIECBAgQIAAAQIECBAgQIAAAQIECBAgQIAAgbYUKLOGbLm5qf196TmruXAptdaH88J54bwov9aD68P14fpwfcgBOSAH5IAckANyQA7IATkgB+SAHJADckAOyAE50DlywBqy5nBvbPBb08CaBq4H10NeQB7IA3kgD+RBVkAeykN5KA/loTx0P3A/VA+oB9QD6gH1gHpAPaAeUA+oBzaxHqirXz45vYu2HH1rXwQIECBAgAABAgQIECBAgAABAgQIECBAgAABAgQIEOjUAtaQ7dRvvxdPgAABAgQIECBAgAABAgQIECBAgAABAgQIECBAgEAtBYyQraWufRMgQIAAAQIECBAgQIAAAQIECBAgQIAAAQIECBAg0KkFsiNkG9ZMrouor0+tIe3PPJwPro/IrSkuD+SBPJAH8iCShR7q5KE8lIfyUB7KQ/cD90P1gHpAPaAeUA+oB9QD6gH1gHpAPaAeqLweMEK2U/fjvXgCBAgQIECAAAECBAgQIECAAAECBAgQIECAAAECBGopYA3ZWuraNwECBAgQIECAAAECBAgQIECAAAECBAgQIECAAAECnVrACNlO/fZ78QQIECBAgAABAgQIECBAgAABAgQIECBAgAABAgQI1FIgt4Zsfq5z/83Oec6Bg/PAdSAH5IAckANyQA7IATkgB+SAHJADckAOyAE5IAfkgByQA3JADsgBObDpOWCEbC3b3fZNgAABAgQIECBAgAABAgQIECBAgAABAgQIECBAgECnFsitIVsXEakOf/gzD+dDwzc+XA/yQT42zhzgenA9uB5cD/mZROSBPJAH8kAeRGakgDyUh/JQHspDeeh+4H6oHlAPqAfUA+oB9UAL9YARsp26H+/FEyBAgAABAgQIECBAgAABAgQIECBAgAABAgQIECBQS4HUGrL5LzLlR0b6c/aLTTyyI0WdD84H14M8kIfy0P3A/VA9oB5QD6gH1APqAfWAekA9oB5QD6gH1APqAfWAekA9oB5QD1RbDxghW8t2t30TIECAAAECBAgQIECAAAECBAgQIECAAAECBAgQINCpBawha40HazxY48EaD9Z4sMaDNR6s8aAeUA+oB9QD6gH1gHpAPaAeUA+oB9QD6gH1gHpAPaAeUA+oB9QDNaoHjJDt1P14L54AAQIECBAgQIAAAQIECBAgQIAAAQIECBAgQIAAgVoK1NW/Nbk+3/D332zjnwMH54HrQA7IATkgB+SAHJADckAOyAE5IAfkgByQA3JADsgBOSAH5IAckANyoC1ywAjZWra77ZsAAQIECBAgQIAAAQIECBAgQIAAAQIECBAgQIAAgU4tYISsEbFGBNf5ho9v+PiGT1t8w8d55DxyHrmfyAE5IAfkgByQAw0aH2sAACAASURBVHJADsgBOSAH5IAckANyQA7IATkgB5rmgBGynbof78UTIECAAAECBAgQIECAAAECBAgQIECAAAECBAgQIFBLgcYRsvlnyY8Y9eesAI/sCFrng/PB9SAP5KE8dD9wP1QPqAfUA+oB9YB6QD2gHlAPqAfUA+oB9YB6QD2gHlAPqAfUA1XXA7kRsuZsbZQzh7E5jF0Prgc5IAfkgByQA3JADsgBOSAH5IAckANyQA7IATkgB+SAHJADckAOyIG2yQFryLaNo/ORo/uS+5IckANyQA7IATkgB+SAHJADckAOyAE5IAfkgByQA3JADsgBOSAH5ECTHChaQzYvlB9v7s9ZMR5ZAeeD88H1IA/koTx0P3A/VA+oB9QD6gH1gHpAPaAeUA+oB9QD6gH1gHpAPaAeUA+oB9QD1dQD1pC15oE1D6x5YM0Dax5Y88CaB1WveWCN9dz3lOSH/JAf8sO/J/x7wr8n/HtCPaAeUA+oB9QD6gH1gHpAPaAeUA+oB1qoB1JryBYnRvGYcr8vTBQ+hWPunR/Oj/Qdx/Xh+kjPSSEf5IN8KD9XkevD9eH6cH2Um8tLPsgH+SAf5EPpuf7ko3yUj/JRPsrHUnOhuj+4P7g/uD907PuDNWTNZW4uc3OZW9NADsgBOSAH5IAckANyQA7IATkgB+SAHJADckAOyAE5IAfkgByQA3KgRjmQGiFbo2domNPQ/iWZJJNkckAOyAE5IAfkgByQA3JADsgBOSAH5IAckANyQA7IATkgB+SAHJADnSsHcg3Zxine/R8BAgQIECBAgAABAgQIECBAgAABAgQIECBAgAABAgQItI1AXf3yXyQtaD8ECBAgQIAAAQIECBAgQIAAAQIECBAgQIAAAQIECBAg0MYC1pDtXCOijYD3fpsJw0wYckAOyAE5IAfkgByQA3JADsgBOSAH5IAckANyQA7IATkgB+SAHNiMOWCEbBt3uO2OAAECBAgQIECAAAECBAgQIECAAAECBAgQIECAAAECeYGiNWTzreByQH6f/coIn9ICzg/nh+tDPshH+VhKwP3B/cH9wf3B/cH9wf2hqYD7o/uj+6P7o/uj+6P7o/tjsYD6QH2gPlAfqA+21vrACFnNeQIECBAgQIAAAQIECBAgQIAAAQIECBAgQIAAAQIECNRIoHEN2fwT5OfM9uesAI/sHOLOB+eD60EeyEN56H7gfqgeUA+oB9QD6gH1gHpAPaAeUA+oB9QD6gH1gHpAPaAeUA+oB6quB4yQrVGn224JECBAgAABAgQIECBAgAABAgQIECBAgAABAgQIECCQW0M2Pze9/za2tPNf9fLf7Fe+OHBwHrgO5IAckANyQA7IATkgB+SAHJADckAOyAE5IAfkgByQA3JADsgBOVBtDhghqylPgAABAgQIECBAgAABAgQIECBAgAABAgQIECBAgACBGgnk1pBNdbLr6yPq/Lmhs83D+eB6aBwh7XpwPbgeXA/5GRPkgTyQB/JAHkTmG9HyUB7KQ3koD+Wh+4H7oXpAPaAeUA+oB9QD6gH1QAv1gBGyNep02y0BAgQIECBAgAABAgQIECBAgAABAgQIECBAgAABAgRSa8jmMfJzf/tzVoBHdi5054PzwfUgD+ShPHQ/cD9UD6gH1APqAfWAekA9oB5QD6gH1APqAfWAekA9oB5QD6gH1APV1gNGyGrKEyBAgAABAgQIECBAgAABAgQIECBAgAABAgQIECBAoEYCRsgaAZud273hxzfceDgfXA95AXkgD+SBPJAHWQF5KA/loTyUh/LQ/cD9UD2gHlAPqAfUA+oB9YB6QD2gHmh9PWCEbI063XZLgAABAgQIECBAgAABAgQIECBAgAABAgQIECBAgAABDVnnAAECBAgQIECAAAECBAgQIECAAAECBAgQIECAAAECBGokoCFbI1i7JUCAAAECBAgQIECAAAECBAgQIECAAAECBAgQIECAgIZswznwfNz3+etjfhwco394auyX+fvc3404O848/T1NzpYXbvpCTHsi9dcltyu1j+b3u+D+y+Kee9/I7XiX2O9bF8XoXSo7WRseO+ATccyEj8bOJR6WPe706/xHTJt4cbwwP2LA566No4YXPyhvU+73EYXHnH98+jka99nELferXkdfHCce+c7cnxqfM9Kv5Y1H4+eX/CqWJ1sVeOdeQ5R+3ZW4VCZsKwIECBAgQIAAAQIECBAgQIAAAQIECBAgQIAAAQKVC2jINlg1NgAbG4PlGqf5BmaJ5m2TRmiVDdlcw7FXpjGae2wzzdXCt7qxsRpRvpFb2JBtfExhQzS152dujkk/ejL7F2Wa09mGZ6Sax6WMsrto2hAudcKmGrLp11L2WJpryFbmUvllY0sCBAgQIECAAAECBAgQIECAAAECBAgQIECAAAEClQloyDY4lWoAlmnI5pqCTUaTlvz7Khuy+YZjmcZns29rrpkbIw6OeOLJiIIRp42PTDdEIzfKt2wzNtVAHTDiyZhfMLK2cZ9NG7IRkT+eouOoqiE7YJfoNf+NyDaoc83c17J/t7zSEbIVulR2ydiKAAECBAgQIECAAAECBAgQIECAAAECBAgQIECAQOUCuYZsXUTUR0Rn/u9z2SmLcw3AbLOvLu77/A9j/ojPx5mnJ5MYZ32yDcVkBOo3YvQuKbeGBuQlceKRfXLb5/ab2d+wnPMLJfeb2f8zP20cjdowMray96WxKfr5iEnfihcapu8tfHy+Ibrf0fPihWRq5KLXV3gepI7/fU9mjm3A534QRw0vPF8W3P8fqRGy+ecr/TobG7KnxX5lz7v8+3FwDIgnY/5uje/H8qM/Eb3u/VXR+7I4O+1y5jWPjZ1T+63UpXOf/539+vf6nf+V5SwnTuoleSkH5IAckANyQA7IATkgB+SAHJADckAOyAE5IAfkQLU5YIRs8QjZEWfH6Lg+13A9NpZecn3MLxqtWn6EZ6WjYatbm7b0uq7FXffCKXujyRTCxSNk049vZp3aglG/5Y+75AjZMmvwll5DtvgYGqdrHn3Qn2LavQNj9Ld2jxmX/Cp6fe7siB8Vvy/lpiyu3KXy7zHYkgABAgQIECBAgAABAgQIECBAgAABAgQIECBAgEBlAkbINoykTI9kzY2MbRgtuxlHyOaPJz1SNvJr1TbzjYM3HomfX/Kr3DTFfSOK/5waMdrQEE1Gxh75RuZxyzOjcQtHlibf8Hjhpv8vpjVMU9z0z/lvANRuhOwn4pijX417fjQvBoyImP/EwBj9wxExp8nI5TIjZKtw8Y0W32ip9hsttvdNOLkhN+SAHJADckAOyAE5IAfkgByQA3JADsgBOSAH5IAckANyoKUcMEK2xAjZM09/T2RHfL6R/W3xeq5VrSGbG6GZmXL3Pblna36EbLqX3jg98kUxepfyXfbSo06T7fPN3MbHFo/wzT+2yTqyuSmYl5d42uJta7eGbNIo3jmeTKaTTo4j0zjO/bmCNWSrcansOwy2IkCAAAECBAgQIECAAAECBAgQIECAAAECBAgQIFC5QGqEbH6J1Pw3GTrbn5MmabJebH6t19yfE8vMGqvvyX3BIfFZEtMmfitemJ+fZreuYURq40jTRr+GpurF34jRO9dH5Bu6Z/8gjjqg0PuFHycjUnPr0+4akf1z0lQ9LfbLfMGg1PuTW6u1YM3ZiOyo1Tdya74WH8/BMfr602K/zP5yjy8YiVvu8fm1XT8Rx3xzbOycO56mI2QjNbo2WSu2uedPXljx+Zbzz7ym4fFyxjsi2wheUGIN3qTxnV83Nxnpm+zv+bjv7B/G/Pzo35xfvtk+oIR/ad9Sx9fZrg+vN7uEdGfNR++/99/57/qXf9lCUB7KQ3koD+WhPHQ/cD9UD6gH1APqAfWAekA9oB5QD6gHqq8HjJBtaF6XGLWaa5w2GSGbe0yT0ZfFI2kb9p0bJZsZ4pn9aTIatey2zazvmn9M7jjLjnCtYA3chhHBDdvmj7ncCNvC4yoYUdzwWpo+NvlV2VGrBcfZuIbsMRM+Gtk1cZPm8rVx1PBSI4xLrCFbpUvl32OwJQECBAgQIECAAAECBAgQIECAAAECBAgQIECAAIHKBKwhm1pb1Rzf5vhuaY5vv7cWgJyQE3JADsgBOSAH5IAckANyQA7IATkgB+SAHJADckAOyAE5IAfkQDU5YIRsZY1rWxEgQIAAAQIECBAgQIAAAQIECBAgQIAAAQIECBAgQKBqgbr65b+sz871nJ/zOrWPcl9wyG/i96W/AMEnK+D8cH6U+oKM68P1IR/ko/uD+4P7Q9MccH90f3R/dH90f3R/dH90f/T5nM8nfT7bmAPqY/Wx+lh9rD5WH29l9bERslX3sD2AAAECBAgQIECAAAECBAgQIECAAAECBAgQIECAAAEClQlkR8j6IUCAAAECBAgQIECAAAECBAgQIECAAAECBAgQIECAAIE2FygaIZsfA55/Hn/OjgnnkRVwPjgfXA/yQB7KQ/cD90P1gHpAPaAeUA+oB9QD6gH1gHpAPaAeUA+oB9QD6gH1gHpAPVBNPVB6Ddlyc3P7+9JzdnPhUmouc+eF88J5UX6tC9eH68P14fqQA3JADsgBOSAH5IAckANyQA7IATkgB+SAHJADcqCT5IA1ZNt80LEdEiBAgAABAgQIECBAgAABAgQIECBAgAABAgQIECBAIDengjVknQoECBAgQIAAAQIECBAgQIAAAQIECBAgQIAAAQIECBCojUBuhKwx4caEd5Ix4Zk1gZ3vznfngetADsgBOSAH5IAckANyQA7IATkgB+SAHJADckAOyAE5IAfkgBzYPDlgDdnN4+x85uy+5r4mB+SAHJADckAOyAE5IAfkgByQA3JADsgBOSAH5IAckANyQA7IgU6YA0bIGjFpxKgRs6ECUAGoADphBeD+5/7n/uf+JwfkgByQA3JADsgBOSAH5IAckANyQA7IATkgBzZLDmRHyOZ/8p9H+3NWgEe2T+d8cD64HuSBPJSH7gfuh+oB9YB6QD2gHlAPqAfUA+oB9YB6QD2gHlAPqAfUA+oB9YB6oFX1QGFDtjbr1NorAQIECBAgQIAAAQIECBAgQIAAAQIECBAgQIAAAQIEOqWANWTNVGqmUjOVmrFYDsgBOSAH5IAckANyQA7IATkgB+SAHJADckAOyAE5IAfkgByQA3KgRjlgDVlzY2+WubFdwTW6gp2/zl9rPFjjQQ7IATkgB+SAHJADckAOyAE5IAfkgByQA3JADsgBOSAH5ECHzoHSI2Tzg4XLfRPA77MCfEr3WZ0fzg/Xh3yQj/Kx1PdQ3B/cH9wf3B/cH9wf3B+a5oD7o/uj+6P7o/uj+6P7o/tjcQ6oD9QH6gP1gfpgq6sPrCHbKWeq9qIJECBAgAABAgQIECBAgAABAgQIECBAgAABAgQIENgcAtaQNZOsOeHNCW9GaTkgB+SAHJADckAOyAE5IAfkgByQA3JADsgBOSAH5IAckANyQA7IgRrlgBGym6Pt7TkIECBAgAABAgQIECBAgAABAgQIECBAgAABAgQIEOiUAkbI1qjTbe3kDr12sm94OO9908s3veSAHJADckAOyAE5IAfkgByQA3JADsgBOSAH5IAckANyQA7Igc2SA0bIdso+vBdNgAABAgQIECBAgAABAgQIECBAgAABAgQIECBAgMDmEMiNkE19BaK+PqLOnxu+EsHD+eB6CNdD7itC8kAeyAN5kJ8CQx7IA3kgD+RBdkoceSgP5aE8lIfy0P3A/VA9oB5QD6gH1APqAfVAi/WAEbKbo+3tOQgQIECAAAECBAgQIECAAAECBAgQIECAAAECBAgQ6JQCjSNk899kyvw3/4WO1Dee/T77TSc+zg/XR27ArHxoGBEiH+Wj+4P7o/pAfaA+UB9kJtRQH6mPcjNOqQ/Vh+pD9aH6UH2oPlQfqg/Vx/590DhiUH2sPlYfhxGynbIP70UTIECAAAECBAgQIECAAAECBAgQIECAAAECBAgQILA5BFJryOaermHOf3/OCPDIrYHgfHA+uB7kQX6NcXkgD+SBPJAHmZGQ+R/1onrR+eB6kAdZAXkoD+WhPJSH8tD9wP1QPaAeUA+oB9QDJesBI2Q3R9vbcxAgQIAAAQIECBAgQIAAAQIECBAgQIAAAQIECBAg0CkFyqwhW27tI39fek0kLlxKrRXlvHBeOC/Kr6Xn+nB9uD5cH3JADsgBOSAH5IAckANyQA7IATkgB+SAHJADckAOdI4cMEK2U/bhvWgCBAgQIECAAAECBAgQIECAAAECBAgQIECAAAECBDaHQF39il/Vb44n8hwECBAgQIAAAQIECBAgQIAAAQIECBAgQIAAAQIECBDobAJGyHa2d9zrJdBGAsveWhur12yItes2xvMvvhlr122IRf9YHX+ZuSTzDM/PejPeWLgq1q/fGAsWrYpjDh8UP/ruh6J79y5tdAR2Q6B5gflvrIxvfPvJuOfBubFxY30cPLxfTLzgoHj/+/qjI0CAAAECBAgQIECAAAECBAgQIECAAAECm02grn75r+qjLiKScbL+y8F54DpoIQcWLF4V44+/L+bNf7uqoBo9cuf4+Y/GxQ47bOs6c53V/Dp79fUV8clTH4q/zn2r4DzdZpu6+Mn3PhJHHzHIeeg8rPl5qK5SX6qv/ftCDsgBOSAH5IAckANyQA7IATkgB+SAHJADciDJgaIRsvlOTP7za3/OfmLPIyvgfHA+1GdGu44/4f5WNmTHxg7bb5u7oJxPzqfa5Ov6DfVx9lf+EL+8b07JLw3su89O8b83Hx793tldvru/ySP3d/WN+i73yYB6X73v3zv+veffJ/59Upt/n8hX+Spf5at8la/6C/69pR5QDyT1gDVkqxrjV93Gj0x9LU448+Gor4/45FF7xvVXfji27ZIUIX4IbLkCGzbUx+Ilq+OFWW/G3+Yuj2lPvBHT/vxGZrri5n4yI2RvGJdqyG65Bo68Ywu88uryOOLE38TCRatKHmiSw/fcekSMOsjUxR37nXR0BAgQIECAAAECBAgQIECAAAECBAgQ2DoEWhghW/wii7/R5PeFAo0+2RFav49f3vdKZpPeO3aL+2/7WAzdp3czZw7fwm+MOb/KnV+lT6L2O3+SLx38/v81Zc/52rR47fXSUxlnpyxOj5D1/m4p72/2ONvv/Kr2+Z95/h9x1KcfjFWr1pfN29t++NE44qMDU7/fcl5fR7v+q31/HH8pAeef+3/6G+Puj+6PaQH5IB/kQ/l/QLs+XB+uD9dHOQH5IB/kg3yQDz5/8flLUwH3x/a+PzauIZt/d/JryvlzVqCVHrP/uiw+duJv4s1laxrO+2+df1B88cxh2b4G303y5ZcTaOX5WSu/p55ZHMecWroRVrCGrPPf+b8J+drS+Vsqf9MFSM8dusb9tx8Rw4b0kcfuR+7H8lge1zCPW8prv++Y9Vxr//3j/fR+bsq/n50/zh/nT+s/f3L9uH5cP64f9VtuHIF/3/r3rX/ftrqfpZ7YPPVEboRsvjPuv41nbL7T1br/Trp1ZlwwcXq6BxAHHdA3fvHjcbFjr2Tdwtbt1+O4NY5U7HjX6/oNG+Oz502Nex+cW3DuJ39oHCHb1fnv+q/pKu7JedjcGrKHHzowfvK9Q6JHj21qehzyWl535Lx2fjo/nZ8dr45yXbouXZeuSzkgB+SAHJADckAOyAE5IAfkwNabA9aQbdI22vS/eGv52vjn0x+Kp55dXLCzurqIOyeNi7Fjdtv0J7EHAh1U4Ps3PBeXXPlU6YasNWQ76Lu29R3Wq/NXxCdPeyj++spbBS8umT7+FzeNj/ft33fre9FeEQECBAgQIECAAAECBAgQIECAAAECBAh0SAEjZGswUu3xpxbFMZ95IJJ1ZIt/zvj0kLhiwqioq/NND9/02Dq/6fHAo/Pi5M8/Wrohm1lD1ghZ33TbPPk3/4234xvffjLueXBubNxYH2M/vFt8+xsj49179DIytmFN4K0zh9xfvK9ydvPkLGfO8lbeygE5IAfkgByQA3JADsgBOSAH5IAcqCwHrCHbxmtw1m+MuGDin+PGn71YsgO/687bx/23fywGDeyZ/X0bP7/9WTOgvdcofmDKq3Hy2eUasuNihx22bbw2nP/WMLWGqeshLyAP5IE8kAfywL8P/PvIvw/VA+oB9YB6QD2gHlAPqAfUA+oB9YB6YCutB1IjZLfSV7iZO5Rz5y2PI09+IF5fsLLskOj/uuQDcdqJg3O/d4dxh9m67jCVjZCVN/6F5V9Y/oXl/uf+t3Xd/7yf3k//Ylbfqe/Ud+o79Z16QD2gHlAPqAfUA+oB9YB6QD1Qrh6whmzZtmnrfvHL++bEGedNbfbBH/3wgLj1uo9Gjx5dWvckHkWgAws88GgzI2StIduB3zmHRoAAAQIECBAgQIAAAQIECBAgQIAAAQIECNRCwAjZNhxBu3r1hjjlnEfj0T/Mb/a96tZ1m7j3liNixIH9zFnchv5ZdN/Aae9v4Bgh6xtAjQHoemzv69Hzux5dj3kBeSQP5IE8kAf+veTfi/69rB5QD6gH1APqAfWAekA9oB5QD7RfPWCEbBu2uZ94elEcfcoDsXbdxti2S1106bJNrFm7oeQz/PvZ741v/Pv72vDZ7YpAxxAwQrZjvA+OggABAgQIECBAgAABAgQIECBAgAABAgQIEOgYAnX1y3+VfCXATxsIXHHtM3HFD57N7OmMT+8bfXbqHt+5Lvvn4p999uodv77l8OjXd7s2eGa7INBxBDIN2c8/2uSARo/cOX7+o3Gxw/bbdpyDdSQECBAgQIAAAQIECBAgQIAAAQIECBAgQIAAgRoLFI2QTYbqpvuz/lypx6LFq+LjpzwYL/1tWdTVRdw5aVwM2GWHOPLk38Syt9aWfBtvvPoj8cmj9kj9jnel3lk0Xh3Rq/wI2V3i5zeMTTVkvX8d8f1rDCTvj/dHPeB6yAvIA3kgD+SBPPDvD//+8u9P9YB6QD2gHlAPqAfUA+oB9YB6QD2wKfWAEbJt1PH+zaOvxqdzowIPOqBv/OLH46Nb1y7Nrin7yaP2jOu/++HM9MZ+CGwtAkbIbi3vpNdBgAABAgQIECBAgAABAgQIECBAgAABAgQItIWANWTbQHH9hvo4+/zfxy/vm5PZ2wVfOCAu+MLwzP8nf3fGeVNLPkvvHbvF/bd9LIYO3mmTjmLNmg2x9K21sXbdhnj+xTdj5ar18ezzSzIjc5+ftSTeWLgq3l65LvMc99xyeAzbt0/B8yXb//q3f4/bf/lyPPHMoszjk5/tt9s2c2z//PG94oR/2iszBXNrfvLHt+LtdfHiy0tj5cr18dSzi+Pt5Dif+0e8uWxNLFy0Kg47ZGDcePWY6N69S8HTLFm6JnNst//yr5nHb9xYH7v03z6+9Llh8S/HD44ePQq3r+QYk9f40GPz4pf3vxLT/29hLFi0quFh22xTFwN33SGSKXaTpvmH3r9Lk2Oq5Dk2ZZsNG+rjmef+EZPv/Vs89Lt58cqrKzKvO/2+nHnK0Pj4Ye/KvE+1+klGfj84ZV784tdz4tkX/hFLlzWO9u7bp0e8Z8g7YtxHdoujDx8Uuw/omRkdvjnWkF23fmP84fE3Mj7Tpi+Iea+/3eCTWOzcb7sY+b7+8ckj94hDPzQgduzVrVZENdtvct7f/9Dfm9gn5+e+e+8UJ33y3XHSJ/eu+LpsaX/JufSvJw3J2NXip5bv2dsr10eSL8l1M+vlpbF8xbp4a/naeOb5f8T69fUNObh+/cbMtX7UuHeVzJpqX3d9fcSr81fEvQ/OjYd/91o8P+vNWLxkdcksSa6RMR/YtdXXa/JcSVauW7cxMxPDkjfXxCuvLo+/zV0ei5esymR+JmuXrYlf/vSwTG6lfxKbp55dFD/6n5kxZdr8zLWcnEtjP7xbXHrBQTFk7027D1VrZ3sCBAgQIECAAAECBAgQIECAAAECBAh0JgEjZNvg3Z750tKGqYkbmqz7ZD/cfn3ByjjixN9kPrQv9fOt8w+KL545rNVHUW40YqkdbrfdtnHfz46I4e95Z+bXSdPiu//9bPzo5pmRNEta+vmnI/aIy74+Igbssn1Lmzb8/vuTnotLrnyqou2L1xhNju+y7z0dN/7sxYJmW3pnH/nArnHztYdU3HCrZJ/FB5s0LZI1gS/60oHRq2fXil5LvkGUNMGS5kmmOfTcPzLN7ieTZvTKdZnG0NmnDo3/+NqIhn0mTZekAfv1y6bHnL8vb/G5kuP53sQPxrEf2yPTDG2Ln+QY/m/G4vj65dPjyWcWVbzLpEl+0ZeGx/bbdY3Pnve7Jo9rizVkV6/eEJNunRn/ee0zkfx/pT+tOXcr3Xep7ZLraenSNbF6bepLEi8UfknizaVrMtM3J9fk3nv2btjNwsWr4tKr/i9u++XLLR5C1223iUsvODhzfnYpM9K+2nP+wi8eGF88a1gk+26Ln1q+Z8l1duLnHs405av52dRzMXl/kyZskk+VXKfpYzv5k3vHV845IAYN7FnxISdZMf6E+2Le/LcresxtP/xoHPHR3TPbJtfz7//8enzlkj9nsqjUT5JxP/neRzJfrPBDgAABAgQIECBAgAABAgQIECBAgAABAm0vkBshm5/723+zc4BX5zDp1hfjgkv/nHl3xn9kYPzPDw6N7t2TZkZd1NfXZ36XNBVL/WSmN77psNixV9Loq+55k+0fePTvcfLZj1Z0ZuQbsge8p2/87o+vxZn//vv4x5uNo7kq2Umyj2svHx2fODJpALZ8vN+/4S9VNGTza4x2jaf/sigzsriSZscV33x/nHnKvs36Je/D3b95Jb70jT9mGtHpn516d4sPjtg5+vbZLtau3RDTnlgQr77WtIGeND9vuGpMHHbI7lFXV/48+bev/iF+fvdfK+GME499d/z3dz6cWbt55aoN8dVLHq+oEVe884lfOzj+7V+HWr+1BwAAIABJREFUNXtclZxfCxetjPMvfjx+/dDfmxx/0rQZPuydDSOsk9GAM57/R5NmfnJaJE2g4p/RIxvf39ZcZ0nT7dwLpzU5J5IRwiOG94tBu/eKDRuzowBffGlpk+fPNC+/ljQvh0aXzKDqls/f1hznA4/Oi5PPfqSi9z97TX4shg9LRq3XxdTH58dnvzi16uvytBMHx+UXvj969MjmTv64W7u/fzlhcHz34lHRddtkX613mjb9jTZ4z0bEGZ8eEl26JK+t8LpLvthw4lmPRPI81fxkGrI3jMutZ1zd63t+1tI4/YuPlWxuJufiIaMHRDJ6vLlzMTnW/++zw+LCLw6PHj2SEe7N33cWLFoZ44+voiF7fdKQfVesXr0+Lv/+M/GDHz/XIs8+e/WOX996ePTrm3zhpvr74KacJ56Pt/OnuhzixUtuys3/n73rAI+i6tovvXcivUgTpIMFRHpLKBYUpYmgNFFEET4bIioWFFFEEQGlCIioWCgJnYAU6b33HkIvKaT9/5nNbnZ3+u4mBHjv8/h8X5g7Z+5977nvzM6Z9xzyAHmAPEAeIA+QB8gD5AHyAHmAPEAeIA/cfjxAhazpa2rjDqJ8fOrFxUoKXmmTRjdS0ty6tw1bItH+uTDcjFOrUCV4NXtiCyVtpC9NUlRKYGzLzgv4K/SIoVJMgj/zpgcrqkdRYDpT4N5bOg8ernMPsmbNpCg51206h7PnogyH8+YrNTHopRqmKjpRsEkK0RVrzmDGHwcMA6xO1ZoEV3q+Fo7o5NTJojqW8a1YfVoTQ1HJzvi+mW4qUFGzjf5+O0Z+u81jTrWrF8Y3Hz+C+ysVUKlLZcz931qNLTsc6+psEpSUczo/WUFXkdr/TZsB2ZGPQlSRPQeGY+1Ge0o/57iyZsmIP6e0Qv0HivjiRso54qddXlqKC5diPWxIIPPtgbXQ57kqKowFWwl0SxDXO9CtDsgWwawfnEEw68OU4O4vfx7Eq++u8VBKi99+ObweGtYrplKHnj4bhbdG/KcZWLbqu9ZH6NnTF9V6zfsLKTj2fmOlrhrcbDxKEPX9h5U9KZjJRyDu+9zsfO/jw4fUxYAXJchv90xHQD4t1kyuI8FKUZ1LuvU1G85i+66Lpop/XxSycq1f/z6Ege+uUdk34hLZF+Om7MYX321TrW3taoXw83fNTLMOSLphUclu2HoOf4cdwz8Ljxn6iShk5SMT2TPS19nkejIPSeWs1eRe1KKRb/ci+17CM4gAESACRIAIEAEiQASIABEgAkSACBABIkAEiAARIAJ3DwJUyPqpBApfcxodei5SXnKXKpEbYbNCUKxILg+F0dVrcXjqhUWuoK23e0m6UVF5WlGcmn35IuPp8eoKpX6sd8ucKSMaPVIUy1adVmoHStrM3s9VRsH82VWKqIuXYzDym21Keli9NnzIAxjQq6rlccfFJ+HDUZvw3U+7NE2KgrLv81Uw4O3VyvglyPH5sIdRp0YQjp28qqR+llqz3q1sqTxY+GuIprIrLj4BH47arLrmyy9UxbDBdQ0VgLJuz7+yHOFrz3hcUrD7+bumCGleWlNJduVqHHbsuaAEtidM2+NRU9J77KKQffu12ni29xKXqlPm/WqvqnjkoWIoXDCbgm/k+ShMnnUAX47bphtsatawBKZ/19SS4s7bjxatOKEEhJ1BcOc4CxXIhpnjW+DB2oUNlZKXrsQoiubl/57W9RdfFLKibFYCiyNSPiCQCzwWXAbffNzAUFku/jZk+DpMm71fNSZRFL/8gqQKD/yXVLGxiTh87CpWrjuLCdN2G36EoHwkMSMYe/ZfwqvvOALOoq7s1+N+SJrl0iVzIUvmTEqKawn0vvvpBs09IBOUwOmkrxrjiZB7MXbSDgz/wpEqXMtebGw8FoWfwvDPN+qOr1CB7Jg7vTUqVyxgC6ekpAyYNGOPxpqVxTcf10fePFKLWht32a9Dhv+ns2YP4uUX7jdV7CYkAKvWncaAd9bg1BntFL92FbLih+Mm78Z7n21Q+ZKDS+oo62TkT+Frzmhyc/myeTFnSkuUKp7HMs7CL5IZQW9+E0c3wuLwU5j99yElQP9G/xp4qUdV5MmdGSNGb8Ho8ds19+mItx9E/55VLY8jNfYPv+y7/b7sox8E/j7CfcB9wH3FfUUeIA+QB8gD5AHyAHmAPEAeIA+QB8gD5IE7jwc8FbLO+Tlf1fJvB+/p4CGH3NMRK4HV9ySwmnyCG35KWuOPHGmNvVuxIjmxYGYIypTKbXg9V+ZQk/Uxq9taolguTBvbBLVrFDa9XvjqM+gxUDvAq6o7aMFfLl6KRcdeS1TKU5lStqyZkJCQiMQkYNgbdfBSz/uRRUlT6lB0te0apgoYyrH7KuRXlL+FCmZTzee7H3fhvZEbPSB3KQmzZDSd//GT1/HE84tw9IRnPVdJ7ymK1OJF3Orpasw/Kioeg4atxex/DmuufbXKBXH9RpxiXwKx4z5roMxHaRr21m8+h2f7LNUJuGfAPz8Ho17de3TP1/JnqRcrKm/vIL4ok//4sSXqiJ/ojMfd3tXrN9G57zJdla9KlWjBX0KXnsBzLy/3UAO66gbnzWq6flev3kTnfuoxydz+ntYaNapIqmD1frUyXyv7MSlRWynqvGT27JnQtkVp/LngKDJlzIB3X6+NPt2qQP5dy758kGCkpBYFZIOHi+LbH3cpgTgze1LHtseAFVj1n3bKX1ETvzmglqX1d443dJnOmn3bBHlzZzXFW1T6ums2tTVq3J+8Zib+s2n7eTzWfaEmZ7gCsjkkXbD5+ku9WFHtO7MKOE9xVyVb8Ye5Ydp2FJ+2iI/z2sIp/Yas0uSVAvmy4dKVWFSvUhA/fd0YEvR1js9IwT/6g/qQ9NeB8n+j+6cVvHi+2/Ja4EviRbys8Bn3t/bzFfcP9w/3j/nzEPmD/MHnt+TvFi38fuB+4X7hfuF+4fMlny/5fMnnSz4P8HlA63nATSHrpAnnlwf824GAPh7HTl5Hm84LcCYiSgnCzpncCo0fKZbsaZ74ScAtuNMCXXWbow5qFcPrmY3Hefzoieu613KosVqhVPHcyQM0X+/1myPxbJ8lmkFAUaf+Na01Spewbs+95q53NEGCvKLuEpWfI7DtGJ+kDm7bNRQxMQmqAISkiB4/qiFEAey+Xtt3X8Tj3cM8xl2uTB78PS0YEpS2iufIsdswcuxW1XXfH1wXA/uIytI9p6saz8jzMWjXLUyz5qTT6Es9q+K91+u41QDV338SvOv1erhmndZB/apj6KC6bmM1Xl9RQnd8UTtAPv6Lhnjm8XKm83Of/9qNZ/Hk84s0U0t7KmTN+eX02Rt4ssciD9xSaq4Wsrx+c+Y78PJu3TpWxOgP6yf7jfl4rPqLtz+IYvTrCdvx0ZebVWNw/oMEiH+d0AIP1QkyxXvvgSto3y3MsM6sHXuHj11D2y6hSkpc75aiJJUa18Z8KEfN18ycbwS/OfOPWFwzfXuStWDA2/9q1mRO8UUJyBrv3+27L6l4ROZauWJ+JagfVCiH5f0mStt3P9mA8VN3q7B21O2VlNNKgWNTvCPPRxvySsN6RTFlbBMUyCcZEJJXLykJfQevwu9z1R+ISNrzudOD8WDt5A86LKy30f3Rir/wfGv7wYo/EG9zfqK/0d/M+J7Hje+HxIf48H5k/nzG+zHvx3ze4PMG75e8X/J+yfslnwf4PMDnAT4PGD0PsIas6rW49X+YMms/Br2/Vjmhbs3Cipowbx43BZibqfiEJEXNJIEGrdbs0eKY/l0zhzLOzyaKy2d6L1FS5no3qS0Y3KyUrStIYGPsjztdKVC9T+7XvQo+fuchy7UmjWps6tWtlEBsz9dWYOHykx6XlwDu75NaoEmD4h7/rtdfFMy9u1W2NX89da6oZOf93BpBhd0DMtqm3xqxHhN+1k7/7KGyszAymVu3l5dhmUZ6YLN6uu7mZV0//WYLRo1Tpy/11R+N/NxO3U4Z27ufrMf4aZ6YqVToFvCSDyYk3fWJ09c9ekvQUpTpVSomK5It2PK1i+ODjFClVrB3UynNTS4i2IjaXlI5azWx9+uE5rbqUssHB941lsX2PYVzKGnY5cMLs5Ye1+y3uYeVAKR3s+qLejwi9pQPFh6TDxbsNSUA3lUdANfjMj3rUp+7U98lmnXDy5dxpkF2fiiTYkVqcT/da4lK7du6aUlM/rpJQO5B9hBhbyJABIgAESACRIAIEAEiQASIABEgAkSACBABIkAEiMCdjwBryPpYQzImJh7dXl6OZatOKV7iUEtWN6y9t3TlaTzTe7GmstGhTgoxrdVpJXe88qK+j/aL+pnjJSCrXfvUKCe5kZLSFdiqZK3WZNiyk+jSb6lqd0kqUlHvatW0lXlHRSfg4682Y+qv+xEVHa/UxhRlsUNN65lTfsXqU3j6Rc+gwz1BzuBSXls1Ei9cikW7rmHYd/Cyx5hTVNESDDbOaT9mwg58MMpR09O9pSiWRbFrPSe6nr2SxXNh8W/tUCRIVHHG9hxKy1DI/NybzEuUde1blTWdl9a85y46rtTe9W52asjuPXAJ7bst9FCBigL6n+mtUa9uEVvjkpqu3V9ZjsXhnsF8GZ8oZHt0us+WPTNctY5HREahZcf5OHlaXdPUbi1mse9eu9ob58H9a+LtgbUs13YWe+s2ReCxbgsRn5DoYU4+EJk/IwS1q4si2b4/Zc6UAf9Md6bRtu7fUuO2+ysrDNZM0uqa2wtbdlyptar2xSKYNaEFcuV0KmS19+/cRUeVlM4SbHZvyscY04MRVNh8n3mPUxTTb364TjOgbqe2rRHPf/tZA3TpUFHXr1evP4t3Pl6PHXsuKtN6PKQsRg59GPdY4A0ruJvxIY+zBgr9yJy/uE+4T7hPuE/IA+QB8gB5gDxAHiAPkAfIA+QB8gB5gDxwZ/GAQyHr7dfON896/s7j2LAlEu2fC1NSs6YEJPNr17RMxvHCZe3AnhPOPs9VwWdDH0p57+8j/kbKKQ+FrE37E2fsVWrmajWl1uSrtQzn7/QzPYWsbo1Rm/6pp9Js2bikUjs3W7ZkFbLF+UfFxKNrv2UIX3tGNXVHiuA6nryosT/GTNipGZDt9ER5jPv8UdPzPeK9AMLXnEGHFxapAkUeikaD+Slqxk/XY/xUtWrXpfwNyqHN9yb7PxDrq6XYdNUKLpDNMQKL6yf9Xn1nDab/fkC1fu1bl8GPXzdG5owZNGu2asbZfeC/iHPRaPmMOiDrSMEcjFpVC9m6/v5DVxDSOVSpE+rdXHvcBj6nz0Qp4xM1scqefMTRtJTp+EZ+uxWS3tu9KWs2IxiF8mczPd87p/6rQ9dg+m86a/ZVY2TOnMHUP8OWnkCXlwwCslJDVodfYmIT0K2/thJdc9/r1fjUsL901Skli4F3oFc+hpg9sYVD3WyyfjeiDT68kUwIzUuZ4hMo//bmJ7v7k+cb1NSwef9z7T8b+5/4E3/dGmf0P9vPZ+Q/e89n5B/yD/lHp8Yi+Zf86/7e0Yffn+RX8iv5lfyqWcOW9xfeX3h/sf1+0uz9HI/r6EH4/KIbv8iQdP0vL+2PZryN/+iFwIjRmzF6vCPVqyuoo9QwNW5KoEmjHqmclaK6Mk+Ba3SVG1Fx6NRnKUQFpQ6uNLedsthpw6gObu1qhfHH5FbIn087ZbP7OJSAnYZCVrvGqBmi6uN79l9Cmy6hqpq3g/rVcARPfWj9/7cKs/46pDrT6trrKVodAdmGtke0decFJe1pdHS8x7nqGqvapt3rH3v3UD4MeO9h22NynuDv+urVxrSKtdbA9fC347c+AwIo9VlbdpynUshaXS/va+vZk34zx9vf4/7aS69r5o8vKh/ddAtV1UP2VMb75hVSa1cU01oBcCUt97B6pingU4vnfZsRzyICRIAIEAEiQASIABEgAkSACBABIkAEiAARIAJEgAgQASMEWEPWB/9Qgg/PLcSBw1eUsyeNboQObe+1ZGnPgcuawULnyXZs6V3QskLW0ohTOsXGJqD7AO00okpq0p+dqUmNDVtWUNocn7O7e21fdxOjP5D0tJLq1H4bPX4HRny1WXVivbr3KIq23LmyGBodM9FAITvyUdsD0qtr66G4NLAqtYx7DVqp2WOqkq64jO0xOU/wd3311L8qBbmNEc5ddAzPD1ihOqNYkZxYPLstihfNacOa/a5KwNNMIWvDrJ49MeFLnWh/7aXXNfPHFwNRV1dvSSXleteXtFX3KiW4jpHU4nkbbsiuRIAIEAEiQASIABEgAkSACBABIkAEiAARIAJEgAgQASJgEQEqZC0C5d5NCWa9Hq78k11Va0xMArq9vMxVe9b78v6oAJ22UlM55a4M9h57Sj1OY1D9Ua2ZLZfUwHzxtXDMXXhM1VWUqE0bSL1X++3HGXsxapxnOlaxklKz1VjVnJ4UspImdcDb/2LmnIMqICSwvOCXEFSrXNA+SMln+Lu+ej4mtVFf7FrZp3EtX30aonL2br4qVO0O4k5XyKbXNfPVF5WPT3TqDksN49mTzD/CMPORV99drZmSOaVub2FDE6nJ82Zj53EiQASIABEgAkSACBABIkAEiAARIAJEgAgQASJABIgAEbCHgFcNWanJl+RWu45/e+MRGxPvoRJ1pJd8WEkXruSYtIDfnAUS0NVWJ7rq0VbMb9leSq5yx/Wt1xa0Nl53+3MXHtVUGsr0u3WsiG9GPGLqP2HLJWWxVl3Hopj1Q3PkypU5Oae//fFduBiDdt3CsO/gZXs7wcfejoBsWxQpnMNwvazVkLU+X0fK4jCdlMXOmqTa9i5fvYmnei7Clp0XVLMuWyoPFv4agqBCxvNx1KTRtu/P+nrvLx+XxfJpnjVcreNvNH/v/Sh/W6sha/36evZk4jNdNV/Txl7sTQleaivnLS+EjY6uNatW2JRvw5Yet1FDNgUvI3xdtaizC0/5fr/UU80ra6jUgC1taN+c543Pt3q/0vJnu/7P/tafD4i3s/aIdf6if9G/yGfcL/7cj+k/9B/6j+/Ps9w/3D/cP9w//P3C3y/8PcbfY3we4PMAnwfsPQ9QIWsjECBd3euTZs6UEf9Mbw1RTNlpUjcwuNMCnDh1XfO0NwfUgvzna0tN5dSWHeeV2qWi9PVuSqDi26bIli2T4dB9Va1ZwWP/oSsI6bQAl67EWunud5/bUSFrVAs4EHV8/VnfC5di0K5r2gXUqZB1bAF/asim5zXz1Rf1ajQLVr7WffYmGyWN9ivLNTno/cF1MbBPdUN+Sk2e95sYaYAIEAEiQASIABEgAkSACBABIkAEiAARIAJEgAgQASJABDwQSFbIOiP5/F9HRF8fh5HfbMHIb9WpawPpV3VrBuGPH1sgb95syQope+tiXTllz67gsnPPBbTpEobrN+JUU1aCeYrCNYvhuMOWn0SXfkt9Pt9ofbbulICxWjkayPVxt+UKyBbObug3pimLTfzO2y/15ukKMFYtqDuerbsuKkH16Oh4FSyulNkZMxjOx2if+LO+EeeiNGutptb6WcHLyN/M+MJ5XG9evl7fCKeZ45sjuGlJW+vnj72I8zFo2XEeTp6+kVrL5GFXrZDV5zFrCln1+eGrT6PDC4uU5fNug/rVwNDXa9vCV8tP9PaJXG9Qv+oYOqiuIY+mJs9b9Wv2M35eID7EJxD3D/oR/Yh+ZP/3CvcN9w33DfcNeYA8QB4gD5AHyAPkAfIAeYA8kB55gApZGyGEtFKCSTx49sSWaN6ohI3RpXRNTeWUkZKudrXC+GNyK+TPl9Vw3L6q1qyAsWTlKTzTa7FmVyVQ1ayUFTMB72MakLV5RT0FnxXFpxFGgVD/+bO+O/deRJvOoZoBfyuqQZswpln3O7mGbHpeM199Ue88cZhA+WH4mtPo0FM76GtlH6Ymz6fZxuCFiAARIAJEgAgQASJABIgAESACRIAIEAEiQASIABEgAncJAg6FrDPpv1MZ6py862+pkOoWUb9Ljy9ddRrP9F6sqZoKtL906VABYz99FBkcyfht4X8jKh6d+i7B6vURqmEptQmdQUkf1tdISaeoRWe3RZGgHI7r6thXgh0vGdSQzZnZ8HzXpDTs6yni5ByXcvAW+O+YiTvwwahNqvVQAi8jG9paXzGydZeNGrJe/qOHv9h1jOdRn/GXzeHP+hopnJVAWO9qKRj64L8emzcNz4+I1Fb+aipkLfinEuB9Zr6mKtW1x23MT298yr75Xj5kcFPceo3PSHHtWDNJvXtr7h+WFLIa/Gq0R1x+aANfrflLDWe99O+ugKwi0dXmf8sKWZv3DyN+vVX751b5j2O+9u6/xC8ZAT/3h97zA/ElvkbPl/QP+gf9Q//3F/cH9wf3B/cHn6+SlWJ8vr9lv8/5+4q/L/n7mu8X+H7n1rwfJf+mL/6lQtZiJDU+IRH9Bq/CnPlHlDM6tL0X40c1hNSR9bVNmbUPg4at1Ty9WJGcWPBLG5Qpmdu2+dRUThkpZKWW7uxJLZBbUhYbNF9Va1aAWLcpAo91WwhZL+82+sP66NHpPitmAt4nPSlkjTCyoswzA8ef9TWqb9vnuSr47L2HzS6fLo/fyQrZ9LxmvvpiWihkja5hxddTk+fT5SbioIgAESACRIAIEAEiQASIABEgAkSACBABIkAEiAARIAK3MQJuNWSdQhBnpJ5/Oz6cc+CxZ/8ltOkSiitXbyofFrpSCrtqf9rH69ip62jTeQHORERputDIYQ+jd9fKyUpT6/YdyqmlWL3+rMquop5rXlr5IMV9flb/Pn3mhqLM0xqzZw1ZffvWaoz6Nj5LCktFueOb/ZTc8/bONw3I2hyPacriqoV019dI0ZiizLM3P3c8/VlfIwW2S717C9bPX3+JOCeKVnWd1RSFrP56Ob5k9lwPPXuy4R1K8FK29rc/9oxqyAbCn7Tmb3U99BWyRTFrQnPkypFZk1+Nasi6VO1u9wer43Hnj7DlJzRracsautIiG9xfbkTHoVMfvUwIzRHcvJRbDVrf97M/+PvKl77g6cv9jOPj8x79O+2fh7i/ycfk65Tfl9wP3A/cD9wPfB7l8yifR/k8yucBPg/weYDPA3weuLueB6iQtRhNdw+o1a0ZhD9+aom8eYxrpZqZlnftA97+FzPnHNTs2qxhCUz/rhmyZ89kZsrjeGoqp/QCgTKAp9uXww+jGinPk0bNV9WaFRCM1HqBUH9aGYNWH9OArE3DpgHZaoV0LRphpATVJVCV01jlnFrre/nKTTzVcxG27DyvukQgxmYT5oB1v5MVsul5zXzlGiOeCxSPzF10DM+/slzTx6Z+2xTtW5Ux9L/U5PmAOT4NEQEiQASIABEgAkSACBABIkAEiAARIAJEgAgQASJABIiAgoBODVnvnOZ3999Xr8XhqRcXYdM2R5DozVdq4c0BNXVrpKpz4uvjt3TlSTzTe4lmXdqsWTJi7s/BeLD2PV41HozXw7yGbGlb9tznY6QcG9SvBoa+Xluj5p7neMOWnUSXl5ZqB9x+cAYD3XOqW/e/Cxdj0K5bGPYdvKyy37h+Mcz4vhly5pBgo2/2tXOum4/PXg1Zc3tbd51H265hiI6O95indk1ST3sXLsXqYnRfhfyYNz0YhQpk89m//Vnf2Jh4dB+wAovDT6rWr2ypPFg4KwRBhXOm+fr56y/2asiar7+9mq+pay82NhHdByw3WLM2CCqc3Wd/ssOn3vvTtxqyGWCEr2cmAK0aBOZ4iz+NmbhTs660fIAzf3owatcIcihcVTWOHPZ9ryFrbXz6NaZ4vr98wPPT9v5LvIk3+UyvZh75nPxAfiA/kB98/X1P/iB/kD/IH+QP39+HcP9w/3D/cP/48773dvcfKmQtROaXrjyFZ3ovVtZaCZJOD8GDtYMsnGnexUhdJmdbqSXofZXUVE799s9h9B28UnNiM75vjhBJk2nSfFWtmdmV41I79sXXwjF34TFVd6nLu/i3tiheNJcVUwHtk54UskYYFciXDaGz2qBS+Xw+z9/f9R0xejNGj9+uur4SqJoRgtrVC/s8tlt14p2skBVM0+ua+eqLsbEJ6P6KQZD5Vwky5/DLnfr/bxVm/XVIZUP5KGKGfBSR3dB+avK8XxPjyUSACBABIkAEiAARIAJEgAgQASJABIgAESACRIAIEAEioEIgQ9K1v5KcAhz+r0N4545DfHwi+g1ZhTnzjyjgudKmisoy+cNyf/935LdbMXLsVk33rFgun6JYDCqUw/L1HLUF9WrIOmsLes7Te956f7/10X+Y8PMe1Vgl2LnglzYoUyK36Tj1aidq16C1P049Napn7V/7dv1ZZ9OArJffma2HacpiVw1Z7XnqjUcWVgmsN3PWILWPk7/rG7rsBLpqKKhlbCPfexi9n6ui2qdmeN3q49ZryFrD23rN17SxF7rUYM2UWthVTHnBn/2lt75hS0/oq/GVGrL6PK7Hyy4VuqQFt7lvnf2vX49TMiOs2xSh4tIuHSpg7CePIkNG9f3I/XqpyfO+zovnWdtvxIk4pQbf0a/oV/Qr4/sm8SE+5EnyJHmAPEAeIA+QB8gD5AHyAHmAPHCreYAKWZMo/f5DVxDSaQEuXYlVer4/uC4G9qke0Nj+nv2X0KZLKK5cvalpd9JXjdGh7b2Wr5layikjuzK+8aMaInMmiSIYN19Va2Z2ncc3bIlE+26huBmXqDqlV9fKGDmsnmmdW6vXstrPNCBr1VByP9OArEENWTFhVCPTX4z8Xd9jJ6+jTecFOBMRpULF17rKNuENePc7XSGbXtfMH1804hGpld3xsXI++4lRHWerfJ9aPO/zpHgiESACRIAIEAEiQASIABEgAkSACBABIkAEiAARIAJEgAjoIkCFrInCaeLPe/DmR/8pADpquobgwTpS2y9wX5TE3tRPjynXbdm4JKaNbYps2TNZum5qKaf2HNAOHGfMmAG/T2qJJo8WtzQ+fxWUZl+yXL1+E0+9sBibtkX7/tz5AAAgAElEQVSqHL9IUA7MnxmCcqXz+qXYi4lOwKD316B5wxJ4os29yJQxg6E904CsTX8yDciaKGRl/N1eWYZlq06pMFLUzjPboEyp3JbW03s9/F3f+MRE9Bucokp3H6DswT+ntkb9ukX8Wr+kRODjrzcjb56sSlrw7Nky+WXPjA/udIWsdyYB1ZpNaY36DxbxyZ+c/iVb5OOvktesWxVkz2HOh/4oZGNiE9Ct/zIs+1e9R1wfoGTM6JPfzJl3BL0Ghav2np2MCKnF82b8yuP8ktCM73g8cM+H3G/cb9xP3E/kAfIAeYA8QB4gD5AHyAPkAfIAeYA8QB64c3iAClmDaP3Fy7Ho+OJibNlxXulVu1ph/DG5FfLnyxrwGL+kRO71uvoFvVwoX96sWDAzBFUqFbB03dRSTklaZa3Uyq2blsLkMU0gNT6tNH9Ua1bsS5+J0/fgzQ8dgXTvNrh/Tbw9sLZfKtnZfx9SUllLe+6ZSvjyg3qG6mDTgKzViSX3Mw3ImihkxYyRz/mDUSDW171uszc0j4eUxYQvGyFLZnM1th6sazdG4MnnFyoq6sb1i+Hncc2QO1cWm6tgvfudrpAVJNLjmvnri3MXHUOPAcsdteLd2j1BORA2qw3Klspj3QmSexrVcH5zQC3If1ZaavG83rX3HbyMQcPWQvaOtMoV8+Oz9x5Gw4eL+cWlVubKPkSACBABIkAEiAARIAJEgAgQASJABIgAESACRIAIEIHbHYEUhaxzJnpKvbvw+Ox/UoJuMv2n25fDD1800q7t5yc+kp41uNMCnDh1XdOnXC/qLayPkXJKtwanyfhPnbmBx7svxOFjVz3G51IsPlDE8e8WxueTgtImvpHnY/D482HYe+CyCk+pAfnP1NaoW8tN6WzD/vY9F/F49zAlxbTV+VsOyFrAT76IMQ3IeitkNeZn5CfyEcAfP7VCneqFHQpAG/j8FXoUL7y2QoW7YY1gL/ui4O352gosXH5CZUdqAU8a3RhPShpvJ142xnc64gae7LEIBw5fUc4a/0VDPPN4ecv+q/lFksn1LQdkLa6/7RqyPo5PTps5vjmCpaawyf6OiUlAz4EGa/ZVYzwZcq+2otRkfKfP6qyZyfpbVsjqXN/IDxVOfqWW7f2xYat2SnVRx/45uRWKF8ul5lGb+3fm9161wm3sDy3/lsB0r9fCERevTgP/0VsPon/Pqo6grEX/VfXzc3x2+MmX/Uv7yQhwfX3iL/oP/cfs/snjvH/w/qmjeODzgenzN/mD/EH+IH/w940GD/D+wfuHyfsr3j95/+T9k/fPW3n/TFbIGr1JtZlL9Q7R0B8/dQ1PdF8IqfXnbIP61cDQQXVSRSOflJSkKDonzdijCkDJPxQqkB1zp4egcsV8pte/ERWPTn2WYPX6sypbouj6a1owSpfIZWrH+eYxKSkDPh2zGaPGbVPZcygp6yBDBut+ErbsJLr0W6KylaJAzhYQDfqfC46i1+srVOo2uXD5snnx68SWKFdGFG7W/f/02et4rv9ybNnpUE2/90YdvNanpun8x0zYjg9GbVLNuX3rMvjx6ybInEnGYH0cW3eeR9uuoYiOjvewKcHm+TPaoFa1gpbsrVh9Ck+/uBiJiV4SwP9XPDasVwxTxjZBgXzZLa/H+s0ReLbPEs16yClKbxmbub9s2nYej3UPU81RJiy2fp3QEg9J+nAbuF29FotX312Df8KOKrh16VABX41ogCyZ7eFvZfzu44qIjELLjvNw8vQNj/WSmsv/TA9Gvbr32JqHnj0xPnN8CwQ3Kxkwe1O/bYb2rUpbsrdp2zk81n2hwZq1wEN15OMN8/V34nf1WhxefXe125pVxFcj6iNLZlHkG9sJW3YcXfotVe075eOACS2QK2dm03lt353yAYa7oSJBOTF/ZjDKlRFOtjafmJh4zaC1pH2XLAPCB1b92YjnHTVu5SMDa+My6nfqTJTyAYr3xzhOLBz3pmBUrigZHPy/ntX5s5/1+wXXhX7J/cL9Qh4gD5AHyAPkAfIAeYA8QB4gD5AHyAPkAfIAeeDW8wBryGrsw8PHryq1A73VlU0aFMfP3zZFLkltmgr7d8zEHZpBO+eLbwlY/vxdU20Fldt4jJSPYqvzkxXw5fD6lmowyjxFHSXKN++gnaR6nTq2KfLmzWoLjym/7lNSX3o3j9TMAcA3LiERQ4avw7TZ+zWD3CWK5cL4zxuiwcNFLY3/+Onr6DlghSsYa2f+I0Zvxujx21XjsFMz0j3uGL76NDq8sEgz2Dzj++YIEUWjBX6RWqqffrNFM9gug63/QBFMHN0IxYvkMrQndkT5LHUxvYPE7pNu07w0xn3+KPLmzmo6PnGBsZN2YvgXGzXXT4LPYz9uoChlFRGvyXwvXY3Fa++uUfzZGZSfM7kVSpXwrVau2fXcjx89fg3BnRfgXGS0ai4jhz2M3l2rmI7f3d7+g1cQ0nkBLl2JVdl7f3BdDOxd3ZY9o/EpH6K8XseSPfGDsT+arNknDRSlbAbJOG2yzy9djsVrQ93WrExezJnaCqWK5bY0HssKWZNxzA07pii2NTnw26Z++/PwIQ9gQK9qlvzY6QcXLsegXdcwSCph79ara2WMHFbPlj09f567+Bief2W55h50/uMIUcm+UNV0Pc3Wm8fNecwO7xBP4kl/Mb/PcJ9wn3CfcJ+QB8gD5AHyAHmAPEAeIA+QB8gD5AHyQFrxgFcNWWdEQ+/d6519PC4+CX8tOILBw9fi2vU4TRBqVy+MT959CHVqFNaoYekbPgkJSdi0LRJDPliHHXsuGr74liDi2E8aKOrFTIqq0r05rm9UW9DZW1K0jv6wPnLmEIWYs6nHH77mNHq8ukKleJRAnSi6pJai0fne4xOFYue+S111CL0n27BeUUwZ2xQF8olK1rvZx/fqtZtKMCF87RldXJ99ojxe61MdlcoXSFa6enaVWsKTpu/Fl+O2uVJ22pn/8VPXVWpr9yukrIXUMFUrVb3xlbShrw9dg5lzDmrOqW7NIEwd2wTFi4oKWu0f3icJRu6qUe/jeXJnwSfvPISn2pVH9uzquq3HTl7He5+ux7zFx5VTy5XJq6umk+Mli+fCyy9UQ6Vy+XBfhXzIlTOLonhNibCljEDmahRUl57yocRbA2qhbs17kEmjjHFUdDzmzDuCdz9d79rXohQXhWSl8qJu1Pd/K/iZnS/1R7+esB0ffblZc71k7lO+aYLGj5SwtP5W7P06QZSooro1X3+xZxT4dqiR3ZWtelvJsT/trVmQG4+l7G/ra2Y8P3s1ZPX5RTAaN3kX3vtsg2ry3TpWxOfv1UP27MKl2vtXzpdU3r0HhauCut2fqYQvhtdzU/wa4+s8+ucCR91x7/q2clwUt/IhxRMS+HbdJuzzp9jSS7fuPspOT5THuM8bWfJfvdlp7X8r/mu2/3g8dfmN+BJfBwK+8Qv9h/5D/+H+IX+QP638/uXzo7XfB+pe9C/6l/n7Je4v7i9tBMgf5A/yB/mR/Jha/HjX15A9czYKU2fvUwKEq9dHaKZu1QJfXnhXrpAfD9YOQt0aQWjeqASKFclpqYbe/sNXsGrdGSX4umvfJWzfdUGzNp/+xocSDG7ZpCRaNS6J9sFlUgKYSYCZQtZp997SeRSlbMP6bsHdZKXYxUuxGDl2KyZOV6dQbt+qDL4e8QgK5M9mWsMzLi4RUj9z596L2L3/EqbM2qdK2+o9T8G2wYNF0LxRSSVoV61KQRS5J4cjAO5DDbur140Djs7rS3C6SqUCqHqfpN4E5Lx1G8/h7LkojyE2fbS4UsNUb/6xNxNw8swN7D14GRs2n8PkWft0A/xOw9mzZ0KnJypAFKQ1qxVC4QLZXQpCUfpKzVDBUGr5/jhzr2ZtXPdBCobPPFYOHdqWc9grmN2wxqNZUFZsO32+do3CyJQxg4LP6v/OIvJCjOvSH735IMqVzYuuL6nTxOr5syOY09BxWGN9Zf4fjtqE737aZbQlFP+4r0J+Zb4yvps3E/Df5nM4cjwl7bgYqFwxP6Z/10wZpy81aM1yzMsURNkp/i7KU6lF/e9/6vTh3pOpXqUgena6T9mPpUvkRpYsKf4u9YoPHb2K3fsuWbbX+JHi6PxkeTz6cFFIel3lA45kfK9cuYlDx+zZE4V+l6cq4JEHi6Bc6bzIlj2TLn6y7z/8MsBrNq6Zcl0z/N2PW1bIOhfDgF8k8PnrX4cw8N3VKr6WD3W++aQB7q9YQKX8vXglFiO/0ebSl1+oimGD66Z83GNwfcUHjlxV1m3+4uP4Z6Ej7bZRK3pPTrRuWhKPPFhUSdNevkxe5MunkdHAYP6WFLJvO+rI+sLPdmtU21n/1NjfvD5rNLEGsteX0xb4U+/+zv3vxuA+PN8SP+LnQoD+Y+v5kM8HyTxO/tb9/Ul+Jb+SX5MR4P2F9xetTHS8f/D+ofP+lvdP3j95/7R2/7zra8jq1Rg0e9HtfXzm+OYIbiZ1Fs1z7Y6ZsBMfjNJOw2r3ulo1Q41qC2qpFyUQ+WCtIJQplQcJiQ61rne6ZhmXBLykhm6/HlUt19zUq3VqZ56OOYagVrXClvDVemKKi0/A+Cm7IamDRcHna3vr1dp4tVf1ZKWodo5cvRq5Vq/pqG/ZHLlyimo0CVt3XkTbrgsMUwEb2fa2p5frNSYmEd9M2oHPvtlidaiufqKinfBlY7RqUhILl2vXCNYzKoFoSWNslINWaiyLwvC1oatNg9tGg5fg78hh9ZEnt3ntUEs5cTX2u9H+swKslr/3/99KzPrrkJXTVX1Ekbz4t3ZKUNbJT/7YkwtY4TupPf1X6GEl5bBexgErExL/kLTOeSTNtQV+dV+3QNSQ9faDfQevoM8b4ZrZDIRLRbEtH0AYcansl69HNMATIWWRQZGwmt83+v/vX8z6S1sVbwVH6eOpZLV2XbMasoHgZyvz93U/8jxr60yciBP3oTkPc59wn3CfcJ+QB8gD5AHyAHmAPEAeIA+QB8gD5AHygD88cNfXkNVTUFl9we3sN/P75ghuXsrSfjSrFWvn2q6X4VULufzASCEr9UUlBenbI/4zTY/sPo4uHSrgnddqm9YS9Y4rbN15AW27hvocTJQxpLzwL2QJX6Oc76I0HfX9Nkz+ZZ9lNbSMoV3L0oqSrULZfKb7TWqpdulnXSHqvd5KAPWH5q5axVt3+Yehtz2znPj7Dl3GgHdWY+PWSFNXlCB93+fvx5D+NZEnj6O28r/rz+KJ5xcib54sSjpiUemJ6lj8rub9hRRlpajLc+fKgtw5M9uqyXztWhx++Hm3Uo83JibBdHzODg/UCsKnkmq8epCl2qUW4mO6fmBVoa43eC1/7/+/Vf4FZGe3U1Tmznn5Y08JyNrgu2s34vDD1N0Y/YMPa/bOQ6hTM8jnWqh6/N6ycUlM+7YpsmXNZLqftfZLQnySUov4o9GbVApsI6eUQOwbL9VUlNDO/WK2H53H+7/puw84x+RSo9t8bpq78JiSHlnrY5aPpH5sj6qpvq+s4sR+luL7Pvm9P7zIdeG60H9Yk4k8QB4gD5AHyAPkAfIAeYA8QB4gD5AHyAPkgbudB+56hazfEb506EFGCj2nsk0Uh4ePXcMvcw5g0YqTSs1PqdvobKLwqv9gUXRoUxZNHy2hBNfupDe4sbHx+Pe/CMxbfFRJVX3sxDWPYIPMX4KIT7UrhzYty6Bgfvcap3fHl0CijPtj3mH8Pvcw9h287MInfz5HYLVzh4po16o0cuZw1r5NO1xE8bxt50X8GXoEq9aeUfmvjLF82XyKAlHqaJYoJurQtBvfncgr/uInNbq37TyPP0OPWlizsihRLLffTyh6CllflKJa83fy6G//HMTSVaexZ/8lDx4VPyxZLLeiHG/XqiyqVymATJmkDrPNiGg66C/K4EHD1rjqf8tHDsOHPID6DxRNrr3N/XU7rqu/+5rn0+/p97cfn3Pfct9y33LfkgfIA+QB8gB5gDxAHiAPkAfIA+SBW8MDyQFZN02Pcxx6Mh8ed/BVOsbHSKHnUral4/Gnd3w5vvTt/1wfro8TgbBl2mp1Sb0+qF8NNVC8v6X7+xv3N/d3en7+on/SP+mfOgjw/sr7azr//Uz+Jn+Tv8nfmgjw/sX7F+9f6fr9N+/fvH/z/s379+14/86QdP1vecRgu4MQuBEVh059lmD1+rOqWc0c3wLBzUrdQbPlVIgAESAC2giMm7wLQz9drzo49dtmaN+qDGEjAkSACBABIkAEiAARIAJEgAgQASJABIgAESACRIAIEAEikCYI3PU1ZNNBJsiAZwiwpJC9NYpsKuGJe8D9nZmIb8sMuGniB2Mm7MAHozZ53EyldvGCmSGoVqUg+Yh8lCZ+eCc+Z5B3ybv0a1ZCIA+QB8gD5AHyAHmAPEAeIA+QB8gD5AHyAHmAPGCPB9xqyDrfWXvn5ODfnjk60j8eVmrIpkQo0v98bjf8OV73nC70L/rDrfOH0eO3YcTozR4B2bo1g/DHT62QN4/UhaZ/0j9vnX/S/7j/uP+4//g8zt+fDgTIh+RD8iH5kHxIPuT9gPdDPg/weYDPA3we4PPA3fA8oK4hmybCXF4kNRFwpCxeqpOyuDlTFqcm+LRNBIhAukGg//9WYdZfhzzG8+aAWpD/2IgAESACRIAIEAEiQASIABEgAkSACBABIkAEiAARIAJEgAikFQKsIZtWSKfhdVhDNg3B5qWIABFIlwhERceja78lCF97xjW+fHmzYsHMNqhSqUC6HDMHRQSIABEgAkSACBABIkAEiAARIAJEgAgQASJABIgAESACdyYCKTVknfPTqynH4w4EbgN8fKohy/W9bdZXMzc/14/rd5vwkz/+u2P3RfQdshJ7D1xG4YLZMfT1Ouj6dEVkypSc1sWNnyMvRKP1swtw9MQ11927Q9t7MX5UQ2TOmNGzdij3D/fPXbB/bofnF3/4gfPTqVlCfiO/kd9ui99v5D+N39nkL/IX+Yv8dRu8fyN/k79Vv0N4/+L9i/cv3r94//J876qXkd0bp7uEP6mQvQMD7VTI3oGLyikRgbscgcgLMXi8e6gSjHVvPTtXxmfvPYwsmTN6/Pu6TRF4rFsY4hMSlX/PkSMz5s9og1rVCt3lSHL6RIAIEAEiQASIABEgAkSACBABIkAEiAARIAJEgAgQASKQ1ggk15AVdZFe6J7/rh3ST7+4XL4Sh6d6LsSWnedV/jT126Zo36os15v+riOlSb9+fbvtQ443sPeV0KUn0PWlpSpOy5gxAyaPaYL2rT15beTYrZD/nG34kAcwoFc1ZMgQ2HFxnYknn5943yAPkAfIA+QB8gB5gDxAHiAPkAfIA+QB8gB5gDxAHiAPkAfMeIAK2bQOgafB9SRFZ3Cn+TgXGa26WreOlTD6w/rInMlTTZYGw+IliAARIAI+IzBmwg58MGqj5vmVK+bH39NCEFQou3L81JkbeLx7GA4fu6r83bxRCfz4VRPkzZPV5+vzRCJABIgAESACRIAIEAEiQASIABEgAkSACBABIkAEiAARIAK+IuBVQzYDkJTkFsh3+1u5Ao+nd3wS4hPx1YTt+OTrLZo+IWoyqbvYr/v9yJ4jc8p6c33p39zf5L90zP9TZu3HoGFrdO91I4fVQ++ulREVE49B763F7H8OuQVjGyNvnmxc33S8vny+4PNVen++4vj4+yClRhx/H7n2A38/8PcDfz/w+ZLPl3x/5hLC8P7I+2Py8yKfD/h8wOcDPh/w+YDPB3w+SBbKqp+PqJD1NZSdTs6LjU3AyTM3sPfgZRw6cgV/zDuMHXsumo5OArO1qhXGY63LoHqVgqhWpRAKF8wOJZsnW6ojIHV+r9+IQ0JCEvYdvIxr1+Nw9dpNbN11AfHxiTh24hoOHr2KxMQkRERGo+b9hfDbT61QMH82W2OLiUnAxOm78ek3WyD/v+g9OfHRWw/iiZB7kSkTF9sOmLJWFy/HIjExERcvxeLA4SvK6bv3X8LZc1G4eTMRG7dFIjomHrK+l6/cxNhPH0XXpyrauYzSV3xiwDv/YuPWSMhefSy4LEa89SCKF81l25aVE2RuW3eex+9zD2Nx+EmIyl58T1r+fFnRtEEJ9O9ZFXVqBN0yjpDase27heLCpRjNKRUqkB31HyiCJatOKr4urUuHivj8/XrIKR+fsBEBIkAEiAARIAJEgAgQASJABIgAESACRIAIEAEiQASIABG4RQi41ZB1jkAv1zePOxBIX/iELTuOLv3UdRXt+lODh4pi1oQWyJVTAhdaub65/oFY/xtRN9Gpz1KsXn/W1hKVLJ4Li39rhyJBOSyvz42oeLzy9r/4O/So6lqv9q6GoYPqIrMSlHUPzKYv/07Zb7fW/8KWnUCXfktsrZl0fn9wXQzsU8PtPHN8l606jedeWYbo6HiP65Uolgu/TmyB+ysV1OAh3/BJSEjE3IXHMOzzDTh5+obp/N4cUAuDXqqJLJmdfuOcj2/Xt7u+i1acQM+BK1TYeA/83tJ58NWIBmj4cNHkmrFpM770dn+wiy/Hb74/eX/k84F6n5BfAvF8RP4h/5Bfya/kV28e4P2F95f09/6Jvy/S9vcvn4/4fMTnIz4f8fmIz0eePMDnwzvh+ZAKWdMQRPru4GugyHtWKQHZLOl7wrf56EQ52anPEj8CsjktIzD5l7144/21mv2zZsmIudND8GDteyzbu5s7+rrP3h/8AAb2qW4ZusgLMXi8eyhEDarVOrS9F+NHNQpIDehLV2Lx2rurMXfRMeVSosRt9mgJbN9zQbP+tPQRBf2Usc3QvlUZy3MKdMeIyCiMnbQTc+YfUZTJziYfLbRoVFJRJIv6nwrwQCNPe0SACBABIkAEiAARIAJEgAgQASJABIgAESACRIAIEAEi4CsCbgrZ5C8OlBzfWl+g8HhKjTvio/ulHv3HcP8kJSbh0tWb2L3vIo4ev4b/tpzDyrVncOLUdcM97FLIFs5haX/Gxsaj+yvLlfSzek0UsoP6SbDQzZ+5fpr4Cp4nz0Rh74FLSkrw/zZFYM2GCMTFJxquW4pC1hp/hq8+hQ4vLFJKz2i1YkVyKkrp4kUlMK/BQxbX78Tpa3i29xJX4Ld82bz4dWJLlCudB7P/OYx+Q1bqzuvp9uXww6hGycpTry/VLF6f/KHzpS/xs8Rv9B/6jz/8R/+h/9B/fH9+4P7h/uH+4f5R8QCfX/n8yveH+pn0uD+4P7g/uD/0Mm2SH8gP5Ie7lh+okPUKO2zdeQFtuy4wTYnpawTcl/Nmjm+B4GalfDmV59wmCEjN0D5vhOvW/01JWWxNIWtFidutYyV883GD2wSh9DdMqVM6fuoujPhqs6veqvco7SpkzZS4uXNlwYJf2qBaZUlb7Fs7ffYGnuu/DFt2nlcMiFr6z6nBSv1VaWa+07JxSUz7thmyZcvk2wB4FhEgAkSACBABIkAEiAARIAJEgAgQASJABIgAESACRIAIEIG7DAEGZL0WnAHZu2wHpKPpHj91HU90D8PRE9dUo7IbkI2NTUD3V5YZKmRHf/gIenS6Lx0hcPsNRT5o+3rCdnz05SbNwdsNyIavOY0OPRfqKmTvq5Af82aEoFCB7D6BJYreIcPXYtrs/a7ztdIgb9oWice6h2l+mNLnuSr47L16Pl2fJxEBIkAEiAARIAJEgAgQASJABIgAESACRIAIEAEiQASIABG4GxFgQNZr1aWu4tyFx7BizWms/u8MpKajlZYlc0bcE5TDSlfExydB6iBabVTIWkXq9u83YvQmjB6/XTURuwFZMWBUQ1YCelJDtnLF/Lc/aLd4BhJAD+40X7Puqt2ArFkN2X7P34+P33nYkVXeh/bngiPo9foKj4DvjO+bI6R5aQ9rEmgeN3kn3vtsg8e/e6tpfRgCTyECRIAIEAEiQASIABEgAkSACBABIkAEiAARIAJEgAgQASJw1yHAgKzJkl+8HIvpv+3Hl99vw7Xrcbq9Oz1RAeM+b2jLgRISkrDv0GV8/NVmhC49rnsuA7K2YL2tO+ulrPUlIHv12k28+PoKLF15SoXJx+88hJd6VL2tsUovgzdK8Ws3ICtzmrvoGHq9tkJVn7bqfQXx68QWKF40l09T1wr2ykckYbPaomypPCqbEpRduuok3vxwHY4cv4bCBbNj5LB6eCLkXp8Dwj4NnCcRASJABIgAESACRIAIEAEiQASIABEgAkSACBABIkAEiAARuM0RYEDW4gIeOHwFjz0Xpqts9SUg67y0BGYnTt+DoZ+u16xFeTsEZPv/bxVm/XVQhebtMHaLLpAm3fRSZvsSkJUBS53TMRN3YMzE7cr/r3BvPnzy7kNo3rAkg2oBXFE9//clICvD2r77Al5/bw227DgPUd93fboi3nujLgrky+bzqOfMd6hj3Vu9ukUwe1JLSG1aNiIQCATGTNiBD0ZtVJnydS8EYky0QQSIABEgAkSACBABIkAEiAARIAJEgAgQASJABIgAEbjVCDAga2MF3vpoHSb8vEfzDH8CsmJQ1GhjJ+3A8C/UL7Jvh6AmA7I2HMmga6ADsoEZFa2YIRDogKzZ9ewe16sp3L51Wfz4dWNkzpTRrkn2JwKaCDAgS8cgAkSACBABIkAEiAARIAJEgAgQASJABIgAESACRIAIqBFIDshKQcIkAM7/dXb0/ve7+7jei2ZByxGQbZSMo2/4xcUnYcjwNZg2e7/HSqUEZNMv/v3/t9JAISv1KelfVvbX1p3n0bbrAkRHx3v4gEMh2x5FPOoUc396+tWt2x96/u9QBda45f5/9MRVzTq3nrx16/AjP9w5/Gg9IEv+Si/8xf135+y/lAcH7i/uL3e/5v3d4Q++/T6z8vxO+8SX/sX95UCA91/ef3n/Ve8D8gP5gfzI+wPvj7w/8v7ozgNUyNoI05sHZO3VkNW6tNSs7fjiIiVVqbNRIWtjkW7zrlTI3p4LmN4VsktWnsQzvRarwGUa2c83SXcAACAASURBVNvT39LzqK0HZNPzLDg2IkAEiAARIAJEgAgQASJABIgAESACRIAIEAEiQASIQGAR8ArI6n1B7bzo3X3cPCCrp5C1h9+K1afx9IuLXPVkzRWy9uynuFDg1tNayuLAXc8xhzvPnm8K2Vu//nfqemgrHtR4WwvI3jp/HTd5l1Kj2rt5BmRv3fjudv+5k+ZvPSBLf7PKL3eSf6TG8wfxuTOfh7g/tBSHfN7jfud+vxN//5HvyHd8PuL9jfc33t94f+P7AT4P8HmAzwN3z/MAFbI2AtzmAVn/FbIynLj4RPR5Ixx/hx5VRkeFrI1Fus27UiF7ey6gtYDsrZvbq++uxvTfPFOhy2iokL11a3KnXtl6QPZORYDzIgJEgAgQASJABIgAESACRIAIEAEiQASIABEgAkSACKgR8KwhmyEDkOSW05l/e+AxZuIOfPDFRk0/UmoxftEoYPiFLj2Gri8t9QzIpuP1sFRDNh2PX/kSKR2Mb+sOgxqyv7dHkcI5UpTB6WC85AsHX1qqIXsL1yu9jy+97D/6s//3f92A7JAHMLB3dfKXM7PDLeQD7rf0cb8n3/jPNy4lAfdTwH5/kB/ID+nh9xD5kfxIfk9WivH+xvsb38/y9yN/P/6/lIDPZ3w+Y7yKz8d31vMxFbI2wvRppZC1MaR009VayuJ0M9x0OxAqZNPt0hgOLL0rZNP7+G7PVeeotRCgQpZ+QQSIABEgAkSACBABIkAEiAARIAJEgAgQASJABIgAEVAj4KmQddXkdOZu5/86crg7cDAPyDpryN59uFlSyNK/HF92GeBgrYbs3edfZrjd6uOWFKi30P/T+/hu9frx+sa8ZAcf84As+csOnkb3C9oJnN8SZ+5L7ifuJ/IAeYA8QB4gD5AHyAPkAfIAeYA8QB4gD5AHUpsHqJC1EaY3D8gGpoasjSEZdpVatEtXnsIvfx7E+s3nEBEZ5eqfM0dmlCuTF62alES7VmVRvUpBZMqUAROn78GbH65DjhyZMX9GG9SqVsjScAKpkL0RFYfrN+S/eOw9eBlRUXHYtC0SN6LjsW3nBVy6EotzkdHK2Cd91QTZsmXSHWNsbAIuX43FzbhE7Np7CTdvJmD3/ks4ey4K5y/GYNuuC0hMTEJEZDTatSqDH75oZGjPEhjJna5eu4nl/57GnAVHsHbDWeV6zpY/X1aUL5sPzRuWQIe29yr/X/D3RyGbkJCEi5djkZiYiAOHr+LipRhEXojBjj0XcPNmIjZui0R0TLyCXaXy+fH3z8EomD+bnSl59JXsOSdOX8fchUfxV+hRHDp6BZev3HT1yZgxA4oE5UClcvnwcN0i6PhYecXnJPNSem2Cocxj9t+HsGjFSew7eFmp6SxN5lOyWC48VOcetG1RBk0fLY68ebIqx/xRoHr7u/is+OWVq7E4duIaDh69Cvm3C5diMGZEA3TrWMk2fP6Mz+7FTp25gb9Cj2j6hDvvPPN4eZffW72G+Jzs/7i4BJePHz1xDYePXXXtZ2XPX7mJOVNa49GHi3qYlvUVLvlh2m4sX31K6SfrKvvwwzcfxH0V8lsdiqufjEmu/8ucA4rPyP+Pio5X7fUnQsqifeuyKFU8d5rvAeGFBYuP4Y95h7Ft9wWPfVqyeC60aFQSfbvfr/CCv/vTPCBrG2LTEwTvxStOKlzrfa9z7tsGDxVFh7blFJ8wumeYXowdiAARIAJEgAgQASJABIgAESACRIAIEAEiQASIABEgAj4gkCHp+j/y6YOjOQPg/FsTjzETt1uoIeu2CiZ4/jb3EPq+EZ4S/Kxe2BGA9xP/mJgETJy+G59+sxny/6207NkzocezlRG27DgkwKEEZGe2Qa2qhT3G03/ISsz666AVk5b7yIvyWRNaIleuLBjzw3Z8MEq7Tq+3Qdd5ObPYXi+twZnZs7o/Dh65gg9HbcS8xccsY5Avb1a8/GI1PFS7CDr3XYxot4COGClZPDcW/94ORQrn1PQPCba37DgPJ09ft3RNM3tGfCABSgnCfvzVJhw5fs3S9ZydalcvjHEjGzkCX+mIb2Sf/DH/kLK/3QPnZpOr/0ARfPjmQ5g0Yw9+1dgX7w9+AAP71NDlVzv+LkaM7G3ddR5tuyxQ+Y7ZHIyOe+wJk/Xad+gyBrz9LzZuPWf5koULZsenQ+vhiZB7kSmz1ITQ57+I81Fo+bR1H5/5QwsENy2tGJSg6ar/zmDI8DU4cPiK5vgkcDd5TFMlaGrk/86TZair1hnb1LpQxXL58MXwR9CwXjFlC7iaDr7ODy3i4hOw78BlXLseh937L+JsZDSOHZeA/RXciIpHlswZMH9mW1S4N59r/BcuxuCTrzdj8i97La1Ju5ZlMGr4I7gnKIfp/jS6H1q6mEYnhZd+a4ciQTlNry/gXbsWp/CQ7D/5sMZKk3Xu1bUK3h1UF3lyJd875MR0xEdW/I/jTU444Vx0rl9Anh/N+IjHkxGgv9HfAvB7jfuJ+4n3ez5/8XmOz3OBeP/H+wnvJ7yf8H7C+wnvJ7yfmL9fTU/3SypkrbzBTe4TaIXsWx+tw4Sf99hWoxoNWdSPfQeHI3ztGY9uosh85MGikABIQqJDJbb3wGVdU6KSmjO5NRo/Utyjj57SzgaMqq6OoE8L5MqZxTAttPeJ7udpXd9ovbT6m9kzm6OotCQQK2uq1SpXzI+6NYOQKWMGRfm4YWukh5JOiQk465R7GRAVmytQoWE8JSB7w2yYynEze3pGtuw4j16vr1AFYkX52KRBcUv+lSVzRoz5pAGefbyC32o8S5M16bR6/Vm8+s6/msFl93mJyvi/zRGa/fTWzRFAra47Ars+amRPT13tD0ZW9oSR399bOg8erlMEWbNmVALdK1afVvm8jO/B2vdg4ujGKF0it+5w7fr4zPEtENyslPJRyidjNuPbH3eaQiHB0nnTQxBUOIdhX+HZwcPXqj66kGBf5Qr5UbtGYdc+X7MhwqWydjf6eEhZjP7wERTIp69St7Om3lkNVq47gxcHrlCU1Xaa8NSvE1sqSl6jZtd3rYzBKi9JgF1U2K8NXa0EqN2b+71O9uzqDWdx4pT6Q5U8ubNgwpeN0apJqXTBQ1bwYR8iQASIABEgAkSACBABIkAEiAARIAJEgAgQASJABG5fBDwVsrfvPNJk5GMm6Ks3Oz1RAeM+lxqy1trlK7F4qudCbNl53i0g66ZGtWbGo5ekyH3+lWUIX3va9e8SYJj0VVNUq1xQ9dJZXmR/P2UXvhy3VTNg4AhoOBRmzqZXi9KH4bpOcVfhSfpWSRMrwcoJ03YZKjBVilavQThTwYoi7kxElJK6ecXqU7pDNbNnNEdJU9qt/1LsPXBJ1a13t/vx5qu1VemBRfm2at1pvPH+GlOlqYdyTGMgYuv4qetYt+kswpaewPwlxwwVY2b2vC8hAZB/wo6gzxvhHr4iitdvPnkU91dS+5ekSx78/hrMXXRUNWKVGtEfB/LxXMHsu592YvgXG1QWJJD45QeiYiyupJJ2b5L+deQ3WxQVulnzULRqdBYflSC3BCr/XHDY1A+M7OnVHzYbo9Fxsz0hgcmeA5dh7cYIDzNGPi+BtEHD1IG0sqXyKEp5SZur1WS9JCi7Ycs5/L3wKP4JO2ro48Jf8hHKq+/+q/R1ttrVCisfjgleWm32pFZKCl+9tv/QZXTqs1jJJOBs8pHB2wProE/3+yFBfPcmAeEJP+9WlJzO9NfO46KwnjymmUORqtHsrKkzIFuzamH88ucB5SMDq6pR70s/HnKvEqyUeek1o/uhrz5nhZcEw9Hfb8PIsVs8LmPERXJP6f/mSmWvuTfhIeGvzk9WZFDW10XjeUSACBABIkAEiAARIAJEgAgQASJABIgAESACRIAIWELASyHrnYPL28bdfdxcISsBWaO0iSn4SW3XZ3ovUlJppiibJCBr7XzvlYlPSMSbH/7nkZpS1JgzxjV3e9mvvX7ykrr7K8sgtR/dm1NhlvJvGZS6ljGxKfUR5Ziky+w3ZCU2bo1UOd24zxuiaQOnylb7+lmyZFJUYhmU4oUp80958b5V05nV6j1j/0xKyoCxk7Zj+BfaKZHN1YDa9nfsuYgu/Zao8JNghgQ1Hgsum/yyX/t8Cdi888l/mDJrn+6mdSjH2is1WfVbin0Jtkug9/e5hzW7ayvR9PGTFMU9B67wCPCo6wyrz5c1HDJ8LabN3q8ahyjx/p4WgqBC2ZOPpR2/yLg+HLVJCch6t6aPlsCkrxprKBc9xyeBwS79lhoqED0Vreb+ufzfk3jx9RW4cjWlFq/7+IwUsnHxSbh8OQaJQipe7c2P/vMISjoPD+5fEy92rayLf8relC6e4z999gae679M+ajE2cQnJo9poqgO1S3l/M3bI/HUC4tU85QPSP6c0hrFi+YyPF8O6u0754miuF0cflKpByx78Y3+tfBSj/shysgRozdh9PjtmntjxNsPoX/PqprXl3rM3nu9RLFcEK6sXkXqbevz99yFx9Bz4HJVkFSU5T9/1wy5cko9Ys/zxU+Pn7yu1BSWD0qWrjypu/0F+3kzQrBm/Vm895njIwNHKvr78FzHSihXJh+yZcuoBIU3bz+Pdz7+TxWgdBoXKp49sRWaNyrhdj3P9Xd+8JLSwXFc39dq4cWu9xnylwRIpa6190cQjpMyQNI2a+3bl1+ohmGDH1DSNuu1q9fi8PwrS1XZI+Sagn9I8zI+33+d4/P1/s3z1fxixB/aa5x29w9eXwsB4s/979vvF/If+U9dM8CbY8gv5Bfyi/4DNPcH9wf3B/eHHgLkB/ID+YH8QH5Ir+9vHApZJ0/zfx18rYOD5RqyJjjeiI5TAhlOtaYrsOWsIevDOqzdEIEnnw/FzbhEx6treaE+qRWaNyypOx/3eW7eJgGShR4BElcNRgvz6dR7MST1q3dTgrrNSxviauR/N27EKWo0LdvutWeN1s3dfkx0Arq9vATLVqmVsr7Yk1SYHXqE4dDRqx5TVxSg3zRF+1ZlLeEfF5eI14euxsw5BzS5wqPmq0X/uHr9Jjr3WaxSL8oF7NiLvBCNdl0XaNbenPptM0fNTYN9c+rsDTz+XChERezdRg6rh97P3e+zf1hdd/d+MtSxE3doKmMb1y+Oqd81Q97cWS2t26atkXise6hu3VYlgNq3hq35/bngCHq9vlz5WMO7+WJP/F+v9rOv9mRfPvdyCofJOF2q52Bjf3DuR7159uxcGeIXmUWdaeBXYmf2X4fQb0i45p6RjzwuXYlF9SoF8dOYpigvtVWT7RnVwh790SNKPW1vXjodcQNPPh/msQ+k9vMfk1ujTvUgU3+RS3/9wzZ89OUm1Xg/eushpYa02XzDV59Gj1eXaQbsM2fKiEaPFFO4TQLQUiO1T7f7kT1HJk27MbEJ+N+HazH9N/XHEjJA2dc/ft3E0jq4j1uUqLP+VNcZf3/IAxjYu4YpTkb3g+9+3In3PlvvgV/3Z+/DF+/XR5Ys5v4iwe0nuod6qJvFmPIhwNRgFC+Sy6/xma0fj+s/X/E5NPl7AIv3d+JFvMgn5BPyAHmAPEAeIA+QB8gD5AHyAHmAPEAeIA/cfjzAGrL6n0uojpgrZBuaWtNSQ6qVhqZmPDpI4GbA2/96BPPuq5BfUUsVKuBUH5rbFCWZKF2dzaz+pbOfKKU69VmiH5BtpqWWMx+Ps8e4ybsw9FPPl/ByzFzRqn0NvXW0a0+UZpLC9+9QdUpeUR5KClNF9GuxScCybZdQJS2rd7NaW9H7vN/+OYS+g1PW1Hncjr0lK0/imV6LNWcxqF8NDB1U13SGepi3bFwS075thmzZMpnaCFQHSa8rgTXnxwtOu0WCcmL+zBCUK5PX8qVk7306ZjNGjdumeY7VPeR+8uUrN13pzL2N+mJPbOjVfvbVniiLnSpM5xi7dayE0R/WhwQGrTRJsS4qWaln7d7s8GHk+Wi06xaq+bGA2GxYrximjG3qoXaWNZM621rq8axZMmLu9BClpq1708pAIMft4nfs5DW06bxASaHu3sTn/p4WDFHbmrWJ0/fgzQ/X6XYTG7KnJIWvWZM16Nx3ieZHG5JGOWxWW0gqaTst0L7mvPb23RfwePcwj2C0HdycdiTV8cix6qwLdtfSDibsSwSIABEgAkSACBABIkAEiAARIAJEgAgQASJABIgAEWANWRs+4GsNWal9eP5iNNZtjMDo8duUVJvuzTNlsY0BJXeVoETrZ+d5qH7Maj9qXcURWE1Ro5rVv3Ta8D7P3bZWHVq7MwxbdlxJE+rdfJmj2AiUPUcAW63OE7XVvOltEFTYKL2wNgqOYIFnbUTpaaW2opbFdZsi8Fi3UEhAyb3ZsTdn/mH0en2F5oCfbl8eP4xqbBp4lrTYbbvOh3yQ4N6KFcmppGLWTlFr11PM+0v9144vLtRM1aqodbvdb27Eq4cjyDZfFWSTblb3kLtJWasXX1sBSRPt3XyxJzb0aj/7Yk/qJLfvFuqRqlmUogtmtkWVSgVs4afHqb26VsHIYfVN/cqIe8qXzYs5U4JRqnhu1ZgkO8HTLy5SpQ9u3bSUUtNVUv26N63+vuxzx8czqzSV8Fb9T2rYhnSar6h/vZui2P2pNerUCLK8DpIG2Zk+3/sks3q6WhcJpK857QtvSK3ihctPeFzSKmbuJ+nV5fVlPS2DzI5EgAgQASJABIgAESACRIAIEAEiQASIABEgAkSACNz1CCQrZJkjzTRXJJJgpJD1x5PUNWTtrcfWnRfQtusCj7Spompa+Gs7BBUWhax1e+7BtxTFkPH5UkNWL61wSkDWJPeoQY6FsGUnDAKyLdxqL1qbZyDsSRpfUWtJcMq7WcVNa1227IhU1tI7cOlZQ9baPMW+XvDBjr3wNWfQoWeYZgrdp9uXww+jmiBDBuP1PX32Olp2nKcKWnqqIa3Py8p+1cJ38i978Mb7a1Vr5lDahaBEsZy29ouMQ2oT9x28QlNxmRLwtOf/5kGtW2MvKSkJ736yHuOn7vLA0JXeNpOsofV1DF9zCh16LlT5lkPh3waFCmQztHcj6qauOv/bzxqiS4cKuuevXh+Bdz5e5/pA5vGQezFy6MO4J0h8IAXfmJhEzWDgoH41MXRQHVvzFbtSK3rQsDUqH0xRi2c2zLURERmNlh3n4uRpz5rfYnD4kAcwoFcN0/3oPr8zEdEI7jQPkn5dm8tq2Mr9Ya6Qte4fznFqBcRTFLyiaLe+Hy5cilVSsO87eNljupLNYM7k1mj8iNTNtW7Pjr/TLnGlv9jf/9w33DfcN9w35AHyAHmAPEAeIA+QB8gD5AHyAHmAPHCn8ABryNrgM6MasgEJyPpYQ3brrvNo28UzICtpQ/+Y0hoNHy5mi6/OnI1yvZyXVLQSdDCLr0hN3NSqISvvxcOWH0eXvgYK2VxZbO3HQNibPHMv3nhfHVRRlIK/tEWVigVMcdPCdauiJPVcS/EtOzVf3e0Gwp7e+krN0N9/bIUmj5YwxT/iXJQSkD15Wh30canwUvm+EnkxRqllqxVEVxSZ79dXoDPzd63jga7Rml7tHTuhrQYe/eEj6NG5sqkfeMe5du65qKiLr9+I86BQ4a9/poegXt0ihuthVGPaag1ss/XesPUc2ndd4JHiWgneTQmG1Bw2O9/7uCMF+CLVLcMRYGyHsqXzGOIYcT4KLZ9W7yVfa5HH3kxA95eXYnH4SdWYlKDzG3VtrWuga8jGJyai3xsrIR8LubeWTUpi2tjmyCZqZhv38aiYeHTtuwTha08HZL5215/9Ge+246/0F/oL/cW35zLiRtzIn+RP8gB5gDxAHiAPkAfIA+QB8gB5ID3yABWyNnamkUI2S+aMkBfqWi02NgHnL8boxmxTQyErF5NgwdRvmyJvHlGZWXtjHRsbj+6vLFNeznd6ogLGfS51camQdcfv6rU4PPXCQlXtS8HcoXJrjmzZpI6m/QhjIBSt7tcNlL1DR6/gpf+twsat5xQ/fqBWED566yE8XEdqbZrPMyLyBlp2nK8ZkHWoqKXOsLkdq36s1W/O/COaqZcDoYxLr4pWJw6BGt/E6btV9UsdwdNg1Ktb1DLPOMdl5BeSCrvjY+V8VsgGwq9EESz1WifN2OPB367gaSlJh2zPb7UyGohxqzjqKWT9uY/o+YfjHtDI1roGWiG7Z/9ltOky36N2rODlq0JZ1ktvvr4qvf3hJbv+w/729hvxIl7cn9ae/4kTcSJfki/JA+QB8gB5gDxAHiAPkAfIA+QB8kDq84BnDVnn9Zyvnvm3g4eSm5FCVnlx/UUjj/6u9/QApI7svkOX8cEXG1RKJJWyySb+R09cU1St5yKjVUFfCcp+N7Kho0ZnKq2n5RqyPl7fcs1Xi/b9tbdhyzm07+apmHMC71IVuystbaynJUXrLbTnvh/s+FNEpL5C1pXW2uL6uZzcRn+py9pvyErMmeepshNbrjq2xXLp7l/lmgbXMw94Gp/vbT892tNTUhbIlw2hs9qiUoX8tvG7fj1OUYtKrWPv5rGXdPC3pJC1sV+8/fvCxRjN9LZKSuWZbVAov6SET24W/fH0Wfk4Ya5mzeGp3zZD+1ZlHQZ17OntJVUtcovjkUuZB2St+6+u7w55AAN7S/pje3hNmbVXM8Xz6I8eQY9nK9u2JydILfcRozepfE4U2aLYzy1ZF2zgZ8YPPG7df+z6B/vb20/Ei3iRj8hHvL8lf2dm83mE/En+JH+SP8mf5E9f34eRP8gf5A/yB/nD7RUc37fBTSHrBMb5JQD/diCQgseYCdvxwaiNqpe48g9qJZE2fnHxCRgyfB2mzd7nsqOtbLKOv1ENV7EiqWV7dq6M1/rUcKuRad2+4820fn9rNWR9v561mq/W7ftrz0gpPXtSS7RoJGpP6+Nxx1df0Zobi39rhyKKCtt4PVLTnvt+8N4fRn9bCsh67Tc79s3wPhORkorbewPLRwszxrdAzhzutTvtrZ+lAKqN+aVHe3offhS9J6cSxAoqJMFJe/cP+Zij35AU5bX72ngq9LXXw6iGrKdC1t56Onuv23QWj3ULgwT03dsDte7B+C8aIVfOTLb2o+ATeSFWCUKfPRelupek1BzWH69DIWuQsrhaYdv8Yykga9F/rSlkra1HfEICXnwtHHMXHlVhJcrdpg2K2cZf+PHHGXsxatxWlc2U2tpSR1iaPX9mf+Jl5/5Mf6G/0F+sP89yv3C/cL9wv5j93uNxa8/X5FPyKfmUfEq+JF/yfQff9/B54NY+D7CGrA0lumWFrImy+eKVWHR8YSG27DivcKCvtf/cM2Xq1TT1fuNc4d58eK1fDbRrUQZ582YNSCaCu6mGbHx8Il58bYVmgEBUVVI/tlqVgj7jakkha0M5H2h7FjNfu+aflAjs3n8R7322AStWn1IFQOQfAlXr0yhz7LqNEXisW6gqsCbX79axEr75+FG/MjKk15qvzvUKxPik5maHHmFIcssaoLmgAfrHTk9WwLiRjW5pDdkpv2irMwM0Re2AbN8aaVpDVvaNnn94ZH6wyDuBrCGrp1BOLfx9rdVtlxfZ33amb7/4mXgTb5uZ5elvFvmeuNrK6E+/ol/5/PuQ9zHex8i35FvyAHmAPEAeIA+QB8gDdw4PsIasDUYzUkbarbX32z8H0XfwSs+ArKJsshEhdtuJV6/F4vlXlkOCJlZb9SoF8fIL1dCuVVnkzOFUetm/vjWFrH27zjcX1hSt1u37Y+/ylVg81XMhtux0BNPdm/Iy/7e2KBKUy+d1DFTNV6cfBdqeVf+8eDkGv8w5iJ9m7sGR49cMXTIQtT7NxuW+37wH41AlVvfrzm6uaLXun0Y1LlMUlGlvb8qsfZqpY63yjd1+VmpYW1fI2sPL6U9vfbQWE372rB9rdx52+ltZ37uphuz+Q5cQ0mkBLl2JtQOjz31TFLLOTAS++Y0ZH/E4cWVkhpEZ8gB5gDxAHiAPkAfIA+QB8gB5gDxAHiAPkAfIA3cfD7CGrLvayySHtWWFrPN1sIE99/Sf/taQdV5u9/5LeLb3Ipw6c8PWC2lnSuPBL9dEkcLOVI3Wc/zfTTVkI87p10KtXb0w/vipNfLny+bA34ec6JYUrRb8y3n9QNszynl/9fpNhC09ge9+2oEdey56+GDpErmVoMq163Eq30yLGrJG6cZ/GNUYHR8r79N6OfEwD8ja84f0aM+I/2wRjsXOLoWsgb+ndg1ZPeWoxSnY7uaRspg1ZKHHX7aBtXiC46MaSQ2f0y8+8JX/WVPEbaF8uH8SP+LnQoD+Y7umO/cP9w/3TzIC5A/yh433Q7783iffkm/Jt+Rb/l60936MeBEv3m9Zg/dOe37yDMhafGl5t3azVkPWGjqxsQno/spSLA4/mZKy2KP2nzU73r32H7qM515eigOHr/hkoHe3+zF0UF3kyZ3F8vmWA7KWLXp2DFt2HF36LVGd3eChopg1oSVy5bQ+VjHij72dey+iTef5uH5DHVj0dTzuEzOvIesWMLeAZ6DteV8yKjoei1ecwHeTd2Hj1nMehyU9dv+eVfFY8L3IljUjOvVZjNXrz6pG7QrIWpiPr11effdfTP9tv+bpgbi+pQCqjcGnR3t6GHoEsWzMMRBdU5N7xLe79luimXUgEHvd1/nr1WP2rEVuz7r1GrLmdgPpu0tWnlTq7Wq1QOxb89mwBxEgAkSACBABIkAEiAARIAJEgAgQASJABIgAESACRCAwCLCGrA1lvGWFrEWl9ejx2zBi9KaA1JB1z3R87UYcRny5CROn7/bJSyqWy4efv2uOShXyW8qccDfVkDVSbLmCNLmyWMJNK/e7JUWrRf8S+4G2J36WkJiETVsj8cW4rVi68qSHj2XPngkvdKmCl56vihLFc7lwsKRktDEvu5m9jZSOgahhG4gare7+kB7t6dUGdQVk78nps9/bXU9n/9T0KyNeU/b6xJbIlSNLmmcWiTgfhZZPz8PJ09c99p4/iPsn1wAAIABJREFUtcjTaw3ZsKXaH+PIxAOxb331O57nV4b3NOcJrhfXi7V2fK6kwf1q43ci/Yx+xvsN7zfkAfIAeYA8QB4gD5AHyAPkAfKAGQ9QIWsjZBlIhaxcdu6io3j+lWUBVci6T+fgkSsY/f02zP7nEBIT3XPvmE86X96sSvrdOjWCTDunpkpNLu6PolVr8P7Yc0817W07EKq5QCtaA2kvKQlY9d8ZvD70X1Vd2CyZM6Lv81Ux5OVamupqPR/JkAGYMzkYjR8pbupn/nSQDx/kAwitFgilXSBVgTLG9GhPD8MC+bIhdFZbVCqf358l8unc1OSe+IREvPjaCsxdeFQ1tvsq5Me8GW1QqEB2n8btz0l3k0J23aYIPNYtFLIW3m30h4+gR6fK/kDJc4kAESACRIAIEAEiQASIABEgAkSACBABIkAEiAARIAJphgAVsja+fA60QjatvpiIionHvIXHNGt7Gnla5YoF8Pe0EAQVzm74hfzdpJA1qiF7Jytkr169ideHrcaf84+oXEYU1T+NaYqqlQvq+klkZDRaPzsPEtB2b4qqb2Yb1KpaOFWVhmN+2I4PRm3UdPdAKO3So6I10IpbPf7zR5lp9sWQ2fHUVMgKfnrrqqiCf2/nqLmdispurfnfTQpZo4wE7w95AAN710hz/NN6vXk9fllpxoM8zi+wyRPkCfIAeYA8QB4gD5AHyAPkAfIAeYA8QB4gD9wePECFrI3Yd6AVslYvLeqgfoNXYs78w/BXhXn12k2ELTthOTj75oDakP+MWmqq1OS6/ihatcbtj73LV2LxVM+F2LLzvMp0IGppBlLRKgMMhD3xGVFyh689rZpzw3rFMGVsM4hK0qilhqrP6v6Rfr/9cwh9B4drnvL+4AcwsE8NO+ZUfdOjotV9kIEYnxGGgVAZ+7IAqc09eqpgf+q1+jJP93NSYy+l1xqyRhkJOj1RAeM+b+QvnDyfCBABIkAEiAARIAJEgAgQASJABIgAESACRIAIEAEikCYIJCtk3SQ+kpdU8og6Q+r824XHmAk78MEXGzQXptOT8nK4MZAKeO05cBltOs/Dlas30bh+ccz4oSVy5sjkCPn7cb1TZ6Lw9Q/bMPmXvbopjZXUnDPbolABCbhpX+9GdDw69V6E1evPqrBRAjXNy/jlT2HLT6BL38Uq2ymK1Ky27PtjLzYmHt0HLMPiFSdU43Glbq1QwNZ43Pfb1h2RaNt1AaKj4z3sOxR57VGkcA5b+9Nfe0mJSfj0m80Y9d1W1XzLl82LOVOCUapEHtP5RkTe0K97ObMtalUr5Lc/G+2H8DWn0KFHmLJdvFuf7vfjs/fq+XX9/v8Lx6w/D6psK8HevjVN8fHm2/RoL3zNGXToEaqJ4Yi3H0L/F6r7xUe+8NmNGzfRqc9ibe75oSWCm5aytV+8+XTKL3swaNgaTc6fPak1WjQq4Zd9X/g74nw0Wj4916CGrKSZT079YPH+oOdvStDzi8a27OnVGn5/yIMY2Lu6LbwuXIxGu64LsO/gZdUaSJrzGd+3QM6cWWyNj883fL6zuz/Y3x6fEC/i5cv93Jf7IfmcfE6+Id+Qb/x7H0T8iB/vv3z/zecpPk/xeYrPU3weSPvnASpkbcS9b5VCduTYLZD/pKWGKuj4qevoOWCZpuozd64sWPBLW1STdLQ6LbVVav4oWrWG7K89PdVcIOqhBkLR6j5nf+3t2X8JbbrMVz4G8G7jv2iMZx4vb2kHpYaqz9KFkzsZKe1aNi6Jad82R7Zs8pGDby0QClT3K6dHe0YYPt2+PH4Y1djxLJ+GLbW5x6iG6dBBdTGonwTb07alxl5KrwpZozq+xYrkxOLf2qN40VxpuwC8GhEgAkSACBABIkAEiAARIAJEgAgQASJABIgAESACRMAHBLxqyDojwk7BCf92fDHmwGPMRAOFrFNJ5NZfiU74+fexE1fRpvN8nImIUpbXoVhqlPwBSwZEnLuBlh3nKWqpGeNbIqSZKMLsr5/UCH1+wDKEr1GnpZ09qRVaNCrpUDZpzMeohuzUb5uhfeuyrvH6gkfY8uPo0neJyr3VNVut4e2vvdBlx9G1n3o8MkCHIrKGz/O1pmi1vr7+2hv5zWbXxwDuC1CqRG6E/doexe4Rxa75ePRq73rWkLW2flau5xAIptgzqjWqzGVWOxSTwI6P+9VaDVnr80uP9oyU8FJHeN6MtggqlN2SP3ivj69/W1PImvun3vXPnL2B4E7zcOLUdRX/NGtYEtO/a47skq3Ay99S82/rNWT99zfv+42V/aGnkB066AEM6ude89Xa+PRqF8v2nj2xFZo3Lpmm+PvCP6npDxyP7/vbij8TX+LL/ev5PEU8iEcgft+Sf1PeLxBPa8+DvB/zfsz7D+8/5EvyJZ8f+PzA5wE+D9wpzwNUyNqIYt8Khay7OlaGKoosUWY5m7taqkPbchg/qhEyZ8poY1YpXddujMCTz4fiZlyix/lm9SGNVGqBqM+pp2hV0inPaINCBbLbmq+/ClkJjusHaUpg+nctkD27b2pLfxWt3kD4Yy8qOl4JPGvVjrWrKk0NVZ+tRcf/sXcm8FZVZf9/jqIYGZKooHLFARQxyRKnzEAcUhFBS3vNOUjNIpUcXrScSngtxZQ304QcSk3sVQZxHq75Wo5vhX8RBZNJwjFERMnh/D9rr7X2Xnvttc/Z587c8z2fjx+89+yz91rf9azfeu551rMekbz5Gwd21KaDJr46Ykar25WWap+vR/YZLcGwKehbO0PWrd/tt2+j7uvLPbcOlx23V0eUt92rNeZSW2TINvV0h2f++oaMOPaezLqkiI85Zke57IK92jwzu+1GmydBAAIQgAAEIAABCEAAAhCAAAQgAAEIQAACnYUANWQL1thTKThtXUP2H4vek+FHzxb1Bbx9+TUp3QzZOECwgzpeuPYz0Fe8+2/5xon3ZY4uvlXVYlSZt02oIdvUGppu+x/602ty1Jj7M3Muqqt6x6HSazN1ZGXx/janhqzakVWWkpx7yZ9lyu9fzLRp/fXWkVm3DJfdvqTqONZ+BnmxjNbiNQ6ac7833/pQvn7ULFFH1fqvWmsmt3cNWWUfL76c1GL2+3PEoWozwxDpsk6pphqXtuZKR6z56tpfS7Xvmf97PTc4NvLgbeQ3VwyR9dZTmxGKz0e/Zsm8BSuiWt0XnbO77LDdRhXHo1iGbPH5Eqqhc+fsV2XMmY8G1/yzTttFxp+xq5RKTe+v6r+qcfy7O16WS87ZTbbYfMOK/NbWGrKRZlz2tZrn18pVH8k3TrpPnvv7m5kx6LVpN5l923DZtq+qY1273trx/vDDj2XcBU/Ifvv0kVGHbCvrRvtpmn6/5tg/NXyaN1/hBz/mX/PWI/jBj/WP9Z+aktSUxJ/Cn8IfwB/AH8AfwB/AH8AfaD1/gAzZGkLrbZkhq+LE5094Sq696YVUC/2MUz9b6tQTdpJLz9ujSRlDoWyz6EjZWw6RXb6wSS6pSllqfkZvDbjjS/OyPIvUtw09746Zr8gpZz2WeSs+ArnbelWbWSlrKw5Mdak9U7k5Ga2hRjfnfnmZeOo5tWa7tUZWX9VB8i6olO2oAul33XSw7DW4V623ja5vqQxU+/COer8PP/xEjv3+Q/LI468FNyM0h6G64Ucffyon/+gxmXHvq5GG/e5X+8sh+2/VJO2pltlfdKDffOsDOfTYe2T+P94NBwRvPUS27du96O0y172zYo0cOfp++evzb8nnNlxPZv7uEPniTj1z79cac6ktMmTV0fVTfzm0SSc4XP/7uXLuJU/mB8VP/3KT1jx7w2kzXpFTz9ZrwnFHbS9XXPyV3HaqOaDaM+nav0e1tdfrso6MPmZHGX/6l6Px4wUBCEAAAhCAAAQgAAEIQAACEIAABCAAAQhAIEQgyZC1maL869SedHbElMsVa8gO2WsLueW6A6SbOqo2rl2Z/nwtv//LM8vzjw/er6+pdZmuIasGOAos3Xyw7LVrr5rbEaoRGR0LfOtw6dmja+79KtWWjL6Ev2rfJPOwCfa17PXVcsA3Z8Z1dF1Dvu7yIXLkyH4xj3gHT85zlrz2nhxx4n3yysKVmfmw5+BeUU3CDTdcv+r9Pv74Exl3wZ/l93e8nLnPOuuU5Iar9pURB21T9T5+e59+7nUZdeK9or70d19RNvAfR0ivTVTN1uJ2VThDNsArLxNPtatWe3/ub2/IYcffKx988HGqX7qG7HDZRQWgauhXtXHOez+PR9Snr2whN00eJt27d61p3D75VOTkcY/KXfe8mrGFOEO8Rrs/7ezH5A/TF3TI+zX+eZl88zv3y6efql2j6ZcKaN/2mwOluwpMNWE8fzX1efnJfz0d3fRLgzaVO6YcKBurI8lz+BXOkK2Rv/+8G259UX504Z+DXsS3j+gvV/5sb50ZXONzlI6oQOMNt82L7h1t5pg0VNZb12Rq1zAv480zO29aczvy7E3XkB1S0/3yash+aedN5H9++3Xp0SN/PPP4qaD4yOPvlXnz/5UZA9XvmTcfLLvusllN7bT2OefFd2TkcfdEwdVq6+fKlWtk9JmN8vCflmbaMaD/5+X26w+Qhi0/16R2NGW+1GpvXG92uNY4T+EGN+Zncb+T+cJ8Yb4wX9ABdAAdQAfQAXQAHUAH0AF0AB3I1wEyZGsI1KuMmJ9Nei74iYYtN5T7/nCobN6rWw13DF/65tsf5n757Gd9rXh3jXzjpPtTxwxvt3V3ufPGg6RhC3X0ZfHX2//6UA495h55acGK+EPnjv2SqP8qvVTm4egzGmXW/Qszlyke99w2XPr2UUdKNu21Zs0ncvwPHpYHH8t+CT5sn+I1W9948wM56fRHRNXKDb1qrQmpggMjjr1XFDf/pcbg9usPrClz7h+LVsq3vvtAMFjc1BqdKutu+DGzwwFeddzzpvn2uur9j+SoMQ/Ik89leW226Wcie9+6ofq4Llm2KjcIXiQDu2lWE/5UXua5vfonP9pVfjhmkKyrAmIFXp98Uparp8yRn14R1oVa7NM+TrVRZXD/cdYrmRY0pSZzS99PZbGe+eMn5NY75wcJHXvk9vLzn+xVcx3lBxqXyEmnPxoF7eMg2xfV0d/5r0rZ+dFmjcO2KzCK1S9Z+d6/5ehTHszVjlrtRj1RjcuUW+bK+J89FQW31VyafvPBstWWlXU7L0NW1Q6f+fuDZU+1GafGV0tmyKo1Uq2V/is6zv33h8huX9qsxtbpy9WGB3V0tOLWEnqr7rFs+fty3GkPx+unGsczTv5ibrZtpVMy1P2ac0JFk6DwIQhAAAIQgAAEIAABCEAAAhCAAAQgAAEIQGCtIVAqvz8r8PXmWtP+Nmto9MX/dx+QJ55envvMKy7ZW046ekCz2rT6g49l3E+ekGkzstlxKih3540HR5l89pXXrr0G95Ybrh4mKnBW9DXrgYVy4g8ejr/wTurzVT+O8z9/+hf5zc1zg486/ls7yC8u+kp0tGNTX9f/Th1Z+Zfgxy86ZzcZO2ZQxSMrX35lRfTF+/x/rIiOolRB5NArypL87/2k++fWL9RUNU6nBo4/Vh9WAZbfXbO/7DRA1fSt/PrrnDejoPNr/3w/98IvDNhY/nD9gbJFb1Uzt9hLjekJ3384c7EO3hwiKiu40qu54/rCvHfkuNMeCtahtc+95doD5OD98o+lLdbT4lfFR8TOydakVHc55wdfkjNOGSQbbNCl4k1V3cmfTnpOfn3D/8u9Ts3ZS8/fU045fqfCR6rqQPj98mRg40Cccb5u8blU6X5x7dwa7qc6u+Q1FWS/N7h5QL2vxvPKn361kP6oANt9jyyOgm02g7rInFbPiTaRfHt2ahOJHYwxxw6Uyy7YqzD3ahb0f3PejGqZqkzK0EsdW3vxubtLt89Uthv1WRXIV8fe/niCDsZGWfVXDxM1vtVeqqbzQd+aJWqDif9S/f3ucQOr3SL1frzhpXFJ5nPRMe7XHyifLXCMu/3wjX+YF61hoVet+ureQ20EOPuiP8vNt78UvPeWm39Wrr18qKg2F3ktfm2VnDT24eioaPWq1rZK88g+T2n+/dNGyKbqJANeEIAABCAAAQhAAAIQgAAEIAABCEAAAhCAAAQcAmTIFjAHFcBRX5yHjhB1P66+VD/7+7vId44eUNMXsuqL5sVLV8nsBxfJlFtelKXLVgVbFcomrJQh1n/bjeS3V+0rO+1QPSAYys689hdD5KiRxTLM7n14sRzzvYdyaaoAjaqx13+bjaRr13WjgITiOveld2TGfQtFBRu/8+38YPaipe/JIUfPDh5brB76nz/8svxwzM6ZrDz1jF9eN0euu+mFqD6lyt7bd+8tZfQZj+a2VR0P/P3vfEG+tufm0muzbvL5jbrmBnXUPS+5/Fn51W/DQTkVhP7RabvI907cKVhfULXvsqv/GgVn1EtlWqvxD2WBqfdVjcKxY3aOeKlArwqU5LVPZfWd8INH5LG/LAv2VR0ve/2koRUDvJVq5aqbqjG78KzdMn17b9VH8usbX5ArrvlbxF09a91115H/feqfmbao449v+u9hhYPgBaZs1Uuef/Ed+fapD+YGwNXxqj+/YC/58qBNM2OvbPfxJ5dFR9i+uvi9KJvzs5/pIm+9k82Utg0ZuveWcvTh/URlTqvAUY/uXaN5EHqpTHOVKRo6ElhpzC9/urccfUT/wlm8LX0/2+YoQPmd+3MDlMpWf/S9XaI5t7E68tx7KRtXGyUuueJZUfphXyojf9z3vlhoA0elrEnFStn3qIO3abGgbCWWqv1KO/7zh1+KnhkKzCrbee7vb8r4S5+MA4GqnVdP+KocfXj/qu1UzH75m7/nZmSrLP8brx6W2rRTbTKo9oSOE1efUxsKJl2ytxz7ze0L21te3WrbDjW3fjZ+Dxk0UOuX6tO/3l0jCxevlJn3L5RPPxW55Nzdgs2upmnqQ98a1U/OOHmQbL9djyBPpblTfv9irE3qM0qfbriq8gamSjW1bWPbOuO/2tjyPgQgAAEIQAACEIAABCAAAQhAAAIQgAAEINBxCJTKq2aVRZ3OqfJko3/tGdf2Z//fzv3+v1Z8KI1PLJOnnntdlv7zfXn6/16vGGipNJQ9Nuoqn+2Wny2lAi6vv/lBMPASum+6RqAel/ff/0j+4+TKmbsqa3fcqbvIllt8NjO+H330qUy/91U568InRAXR7Ouis3eTsd8dFJlEEft4880P5NBj74kyUJvyUkG9008ZVNH+fvXbpL5k6Bkq+HnA0D6ySc/PiPriXmUYLn9jdXyp4vBfP9lTHn78Nfn2KQ8WamacIfYZVRMzPD8++uRTueQXKij7fMV7brNVd9njy5vJ+l3XlX+v+USeeGZ5lGloX6p9qmbjqBPvy9Razbux275PPi3LW2+vlrkvr4iCPSpTLS+4795vv6/1kWO/sb3sMbhXVKO2tI4641yPu7KPsy/Oz0pT91EBJdWObfp2jwLtKsDj1no87KBt5OpLvyq3z1iQm+Ws2Jx/5q6y566bybpd1pEN1u8iG22kavkWs7+m6Nfz896O7KBSVrIKqqkjVqMjt0siixa/J39+ZnkUZFavnp/fQKZN/bpcf/MLVTdsuMxvvfYAOUhlBZdF3v/gI1m8ZJX8v5fekdkPLpSZ92WP/vbHf5ONN5CTT9hJhu29ZRSY77q+ql2t7VPVdE7ut0hm3petbevfb9Oen4mCeGoTwtZ9u8vOA3oW4v/83LcrBrbtc1R7d/9yL1H/Wo7P/O0NUScCuC+lO98fvbOsq2wwtS5pO3j33TXyyqKV8sqrK2X2Q8X61nuzbvL1fbeSr+zeW7br+znZbpsespHKgA/cv8j698BjS+WkHz5SdY6q4OzgXTbVGw3KIi+89I7MeeHt2HZUv5VmqZqxh319GymppGdv/S1/KvKvlWtk7rx3oixzlZEf2tTgj+fOO/YUdTLBVwb3lm237p6yj3ff+0heefXd6H5/+ssyue3O+ak2hbRGzc+TTxgoX9tjc9l2642c+2Xn54drPpFjT3tYHnk8e8R8EdH9j8P7yTWXDckdn5WrPpIfnve/Ve1azd0dt/+8PqGgLLJyVXZNUO3Z96tbypQr95XPq00DFfyfVas/kqNG3x88wt32K86Q7alqfbt+Ff4V/iX+dRF91TVm6vPvD/h07r8vGV/GF31D31nfWN/5+4C/j1rz+y3sC/vCvlrv+2PmF/OrpecXGbLeN8TVsnuKfKHcWteoeqwP3jEildHoZsiq77Em/nhPuX36gjj7ym2LCkyoI2q7b7i+qOCdOiZ33oIVqYCwChBcNeGr8q2R/apma/n9nDbjFTn17Mea1P0itTH1kZV/kZunhY+szHuw6tMl/7m7jDlmxyjLSx2P+u1T87N53ftEAc/fHFD1yE4ViPzDXfNl3AV/rhrc8Nvptu/5F9+W4cfcUzXYY+/htq9IBlelwcnra5GstLz7/mD0znLe6V+OMpcr1Ub2P68C09f8/GtNsqVaPqRqSH7/3Mdzs4gr3UsFalUGpqr5mVeDM+/zbi3oanUpq/XHryvd3Pup59XCXx2de9ZFf5a7H1xUram576vA9vWThsiQr2xZUXdq5Rx6YC19y2vwKwvflZN/9FhQZ4tCKHKCQaUTEIo+x7eP5jL07xdqh6rTffgJ98q/PwofDV+p7UXGR60F1974QlTT3W6OKMrDvS7vZIW8e1WbWyobfNIlX4mOxecFAQhAAAIQgAAEIAABCEAAAhCAAAQgAAEIQMAlQA1Zzx6igOy3ZxcOiLWlOamMqwf/OEJUbVf7cmvI7tCvh9x96/DoONQnnv6n/GTi06ICfEVfIw/eRi49b4+aapS691ZfjKsvrCdc+VyhR6rMSnUk8uhjBsouX9ik0JGYqm7nhKv+T/57SuVsVNuAUJ9UhtkRJ9wnPTZaPzo29os7bSKb9NxAtu3bPar7uvHnNxAVLFlvvXUrHlcc6qQK8J0/4SmZcW/1rET1+W8f0V/OO3PXmPmCV9+V4UfPFjWuKmNLHUf8xS9sEmVa7/rFzaTr+utI/217yMaf7yobdO0i6ohS+4oCst+cVSgrNtT2SvUiVSbjJZc/k1sn2L/f4F02k8kT9xFlk+5L2WO1rFR1vQpsXD1hn0J21NyLVDB9+r3/kPE/fbJQNryah5ecu3tU71MF+NXrxxOfkmt++/+iudmlSyljU5/bcP2IhQq+9+jRNXUcbxTk+cUzTe7GrdcdIAcNS2rwNvd+qiFRluLPhxRuk0osVEcYj//Zk/Ls394o/DkVqB/3vV2iGrvqiONqr9POeUz+cFe2vna1z7nv19q3vHsru7n/0cVy8S+erelkAJUlfOHZu8k3Dt22ap3iIrXLq/Xdt4/mMvTvF3q+sge1Mej08x4vHDBVmfqnnfQF+eqemxc6rlo9V2ne5b/6m9xw27zCJ02ozx16YF+54KzdpN82G1XDl3pfbU5Rx90//Kds9u+A/p+X268/MDp2nhcEIAABCEAAAhCAAAQgAAEIQAACEIAABCAAAZ8AGbKd2CbUl+L/WPSu3HbnAnmgcYm8tGBF6stxFTza/cubyfD9+8r+Q/oE6zw2BY8KKl5zwwvy0J+WpoKDKgDbZ/PPyt67by7fHLFtTV+8++1Qx8yqI3nvnP2PqI6nfamAlwp8HbL/VnLckTtE9Trb46XqFN7z4CK5adpL8uLL/4qPZrXHaKpgzFEj+7UY87bqo6o1rDKUVS1Nl7s6nlvVR1W1M1WgsmGLDXMzHdXR2CqActPt8+J7KNsY0K9HFFg8+oh+sm3fjWrO0G4uAxVgUxsybvmf+RnbVUHYffbYXE741g6y6xc3LbR5oLntWVs//+ZbH8j9jy6R+x5dLM/9/a0oaGZfLakBHYWP0tkly1ZFc+Khx5ZGRxO79YSVJvVt+Jzst8+W8s0R2xXefNJR+tecdqixV/VaVa1fdUSyWxfZrj9HHLKNHDC0IVhzt+iz16z5JDrKWWVpP/H0clm05L3UWqeC4KqWutLdQw7o2yzd/fDDT6Ka35Ou/XtUP1ltilG6oOolF9lUULRPXAcBCEAAAhCAAAQgAAEIQAACEIAABCAAAQh0LgJJDVnbL1u7iZ81AXjoWnjYA/bAfEAP0EP0kPWA9RB/AH8AfwB/AH8AfwB/AH8AfwB/AH8AfwB/AH8AfwB/AH8AfwB/oGZ/wGTIKgW1Kyn/6hUVDnDADpgH6AA6gA6gA+gAOoAOoAPoADqADqAD6AA6gA6gA+gAOoAOoAPoADqADqADzdMBash2roxnegMBCEAAAhCAAAQgAAEIQAACEIAABCAAAQhAAAIQgAAEIAABCHQgAjkZsraFeRF/3tcE4BPeEYF9YB/MD/QBfUQfQzvGWB9YH1gfWB9YH1gfWB+yOsD6yPrI+sj6yPrI+sj6yPro6wD+Af4B/gH+Af5BZ/MPqCFLzQNqHlDzINkjwnxgPjAfmA+WAHqAHqAH6AF6oAmgh+gheogeoofoIesB6yH+AP4A/gD+AP4A/gD+AP5AM/0BJ0MWRUFRUBQUpZmKwjeWJnMePUVP0VP0FD3lGxu+seEbG/wB/AH8AfwB/AH8AfwB/AH8AfwB/AH8AfwB/AH8AfwBTYAasokl8H8QgAAEIAABCEAAAhCAAAQgAAEIQAACEIAABCAAAQhAAAIQgAAEWpRATg3ZvLOp+X34zGq4wCVU6wO7wC6wi/xaD8wP5gfzg/mBDqAD6AA6gA6gA+gAOoAOoAPoADqADqAD6AA6gA6gA/WhA2TItmh8m5tBAAIQgAAEIAABCEAAAhCAAAQgAAEIQAACEIAABCAAAQhAAAIQSAiUyqtmqdAzLwhAAAIQgAAEIAABCEAAAhCAAAQgAAEIQAACEIAABCAAAQhAAAIQaGECZMi2MFBuBwEIQAACEIAABCAAAQhAAAIQgAAEIAABCEAAAhCAAAQgAAEIQMASIEMWW4CJU8ttAAAgAElEQVQABCAAAQhAAAIQgAAEIAABCEAAAhCAAAQgAAEIQAACEIAABCDQSgTIkG0lsNwWAhCAAAQgAAEIQAACEIAABCAAAQhAAAIQgAAEIAABCEAAAhCAABmy2AAEIAABCEAAAhCAAAQgAAEIQAACEIAABCAAAQhAAAIQgAAEIACBViJgMmRLIlIWEf6FA3bAPEAH0AF0AB1AB9ABdAAdQAfQAXQAHUAH0AF0AB1AB9ABdAAdQAfQAXQAHUAHWkoHyJBtpUg3t4UABCAAAQhAAAIQgAAEIAABCEAAAhCAAAQgAAEIQAACEIAABCCQkyFrweRFvnlfE4BPeGcA9oF9MD/QB/QRfQztoGR9YH1gfWB9YH1gfWB9yOoA6yPrI+sj6yPrI+sj6yPro68D+Af4B/gH+Af4B53NP0hnyNrx9fWen9P6Dw94uOsh9oA9YA+Jf8R8YD4wH5gP+JP67wX0ED1ED9FD9BA9ZD1gPcQfwB/AH8AfwB/AH8AfwB/AH8AfMP6AkyFrrSLvTHDe1wTgE96Zgn1gH8wP9AF9RB9DO/dYH1gfWB9YH1gfWB9YH7I6wPrI+sj6yPrI+sj6yPrI+ujrAP4B/gH+Af4B/kFn9g+oIeskMPC/EIAABCAAAQhAAAIQgAAEIAABCEAAAhCAAAQgAAEIQAACEIAABFqSQE4N2byzqfl9/g6NvJ0L/D7/rHfsCXtifjA/0AF0AB1AB9ABdAAdQAfQAXQAHUAH0AF0AB1AB9ABdAAdQAfQAXSgc+sANWQ5wz0J8FPTgJoGzAfmgyWAHqAH6AF6gB5oAugheogeoofoIXrIesB6iD+AP4A/gD+AP4A/gD+AP4A/gD/QTH+gVH7/bvcWLZl9y70gAAEIQAACEIAABCAAAQhAAAIQgAAEIAABCEAAAhCAAAQgAAEI1DUBasjW9fDTeQhAAAIQgAAEIAABCEAAAhCAAAQgAAEIQAACEIAABCAAAQhAoDUJkCHbmnS5NwQgAAEIQAACEIAABCAAAQhAAAIQgAAEIAABCEAAAhCAAAQgUNcEdIZsXCu5JFIuO7Wj+Rke2APzQ0wtcfQAPUAP0AP0QFShhxJ6iB6ih+gheogesh6wHuIP4A/gD+AP4A/gD+AP4A/gD+AP4A/gDxT3B8iQret4PJ2HAAQgAAEIQAACEIAABCAAAQhAAAIQgAAEIAABCEAAAhCAAARakwA1ZFuTLveGAAQgAAEIQAACEIAABCAAAQhAAAIQgAAEIAABCEAAAhCAAATqmgAZsnU9/HQeAhCAAAQgAAEIQAACEIAABCAAAQhAAAIQgAAEIAABCEAAAhBoTQKmhqw965x/9ZnncIADdsA8QAfQAXQAHUAH0AF0AB1AB9ABdAAdQAfQAXQAHUAH0AF0AB1AB9ABdAAdaL4OkCHbmuFu7g0BCEAAAhCAAAQgAAEIQAACEIAABCAAAQhAAAIQgAAEIAABCNQ1AVNDtiQiToRf+Bke2EO844P5gD6gj8nJAcwH5gPzgflgTxJBD9AD9AA9QA8kyhRAD9FD9BA9RA/RQ9YD1kP8AfwB/AH8AfwB/IEq/gAZsnUdj6fzEIAABCAAAQhAAAIQgAAEIAABCEAAAhCAAAQgAAEIQAACEIBAaxJwasjajUw2M5Kf9cYmeOhMUewBe2A+oAfoIXrIesB6iD+AP4A/gD+AP4A/gD+AP4A/gD+AP4A/gD+AP4A/gD+AP4A/gD9Qqz9Ahmxrhru5NwQgAAEIQAACEIAABCAAAQhAAAIQgAAEIAABCEAAAhCAAAQgUNcEqCFLjQdqPFDjgRoP1HigxgM1HqjxgD+AP4A/gD+AP4A/gD+AP4A/gD+AP4A/gD+AP4A/gD+AP4A/gD+AP9BK/gAZsnUdj6fzEIAABCAAAQhAAAIQgAAEIAABCEAAAhCAAAQgAAEIQAACEIBAaxIolVfdXbYBf/7VgX84wAE7YB6gA+gAOoAOoAPoADqADqAD6AA6gA6gA+gAOoAOoAPoADqADqAD6AA6gA60hA6QIdua4W7uDQEIQAACEIAABCAAAQhAAAIQgAAEIAABCEAAAhCAAAQgAAEI1DUBMmTJiCUjuMQOH3b4sMOnJXb4YEfYEXbEeoIOoAPoADqADqAD6AA6gA6gA+gAOoAOoAPoADqADqAD6EBWB8iQret4PJ2HAAQgAAEIQAACEIAABCAAAQhAAAIQgAAEIAABCEAAAhCAAARak0CSIWufYjNG6/DnxvN+KKNniRw2+Wq5cqgB4PDQ7w+Wqc8fL/bteKdHe/Ja8oiMGD5d5orXdtUm1X7zfj/VryFmZ0YLtnfJjT+XoZNExs8+R8Y0tPz9o50UcXvnypmDrpUF4y6UWSf1TGr+tmB/0s9r7f605/3flilHXiwT+58qr0wYqAkWmv/qc1NFrmjCeDfeLNuNfVY/a8AoaZw2TBpS49uePIr237XHt2XKURfLRBkljXcMk4ay+dkyLcTTvV+V/sf8+uj59g/FUxJNasbzltzgzOOtsvpX3D5q6E8z2rt2tse3l2ba+6JHZMRZItco2ys8fxmfZD1pJv+6s1941Y9/0JT1EPvAPlhfWF/wH9dO/xT9Rr/Rb/Qb/Ua/8f+LfR+KXqKX6CV62Xy9NBmynNmqIlE2ICtig65pLklA9gQZ2oFy7m0gZeCApTI3CgztJw1u+xY/KiOG3yX9Jk+WK4e2/BnNSSDnXBmzVcvfnzOVW2t+viNTjrzICcgWfE4UFFwu42fXOt5NfF6HPtvgLR3UDs27Fm+35jfjkItk1knL5cydr5WZIjJwnPp542afgcE8Lmj/zRrXlrWXxvPGyuj5h0vjHftKQ7PahW6zzrSF/WNn2Bl2lux8Yz4wH5gPzAd0AB1AB9ABdAAdQAfQAXQAHUAH6k0HqCHr6F7j+TpDNnqNMFmDmfdNsLbD6GWSkdfY/+5spmpehmwLtj+YIduC9yfO0Fo1B5wM2UsHFl//HrMBWSdDttB4z42CiFF284k9iz+vQ69LORmPhXi01rg27b7M46Zxq02fWtZeok1C851M87XQ7mrj1+x9B51Ed+CA3bSFXmFn2Bl21oH237J+dei/B9BL9BK9RC/RAXQAHUAH0AF0AB1AB4rpgFdD1v6lYxPQ6+vnOAN2ssjosc/KYXFGqeaRPbJY8XkhzlTTV5mjRKMjP5P39RG7m5iZKZI9HtQEx+Y5xx/YoHD8q8B4NN4UHQGrj1l2Al7qOF+rhIv1kcZJhqx9/lJ9bKw97tJk0qqjj+1roD0aOPqFfn6SSax+N1jGj1suE6Mji23GpPq9bovK4Eu4OO/HbTpVZKxzXdTnXjrr0LKI25jH03+WDajvFPPWbcjyW3LDZTJ00tKkwynm6nqT0RYcl5z5kckgVbc342uPtrU/9z9VdCDdtsG3HxVhqb1/2r56y1Rjy7aDqeO4JZyxmh5fPcb6mO6SVOKln+mwdOeCe1SxaUwyv0K2co6M2crwjT4rxs70/VU/Rj6gg1FTD3lWRvv8oqN8zdHI8VHe7njlMTVHN+fYS2a+jxgl4+dPdzJkjb1ERxYb+8v03Y5xpfaoa7LzSenIj+ZfnGwcicfGsW8zt7LzONGfRM+sZbjzWLE391v8cHwcelYTwvZvg4TZcXH7o+8fZXjaTTDRA9wj4Y293TNYxvefLhOj65L5UdHecsevbLQ3ZKeOnkc64OqHq62SPeo7AqptLpljgfUhYy9qfjt6nKeXgTmwUx+RF5xuuOtVhk2mPwX1MLOe6fbm6ane0cb78AnbF/bB/EAf0Ef0EX0M/T3G+sD6wPrA+sD6wPrA+lBf378z3ow3/h/+Xz37f9SQzakRK7Ze7JzjZaipcZkJyNrAhxPEs1+Ex1/Kl8M1T+OA7N3nyJi+TrAurqnpB1eNmXo16/w2ZdoYyJDVmXBLJQq22kzFOEDq1M/NBBhs0NgJmvg1LVUhQ1vTVnExmZfp/opIHDRyApBO4MrnNzPOWPZ5Bvia54vbPzvLM+PtBkBNkC4eTz+IquK7BWrYhjJI8wKy89SRs6Yerr1mnsM39LwC/UsCMtmxSgJG2RqyccZdXJMykNEX6F8cAK40X0xgOa7/q8ZE1cA8dLrMdTLSrX1G7VQ1j6PnPZupORsHjv3xUsFzG8Qvi2QzPwOZusYeI5uJNjME5ltgvsdtiJ/n1ZD151Dcnt46yO3Mz4hB3nxxgvLJ+Bl7dTdVGJ5RvWhV6Frd3/CLeZaceWzHy5/HKiBbRBMCNTTjkwacGsGZ+W83uKjsTmtrmTniBCq9EwuK2Vv2TP/4c7YOeFlEtzc5+cD/OdrHYTdZuHqtgu42s1yZiz/WhezF2qdjDyVn848/Pu5YhxjG/TG6FtX0dnTNba9qszN+GTahTUiB8abmlhODho/+uzqkn569RZfAC17YC/MFvdAE0EP0ED1ED9FD9JD1gPUQfwB/AH8AfwB/oC78AWrIOrnU6RqxJvPVySzya8gmwSu3ZqtfI1DfJ50hazMNVVapykazAaJaa0EGPpfKmDU7bpwasuNe1RmhOghoM+ZMplqmFqGXQRkHHNK1aP3ak+Faux4Xk3mnA2C2HX5A1MnIjQI3inOap87YNMEM52yEqrUVg89XkZBQxnGN4xKsserbRU4tyej5qj6rzhBtav/056x9JWd8pbl445tXa9jvT6Z/OfabuV/2uvA4mXaJqY2ZY3chOwv222tHEnhK14IOz+fkDNhCdm0zqk2GbN74uWfjF7tvVo+Up+rfvyLPqE0DncBhgXkczzvLIZAB7J1JUrE/NnPYzD8dOHbOoAvav2/HRe3NP9uu4OcC9lZx3tj+e5+rZVz99UF8PiFdtxnGrm4X0rXQmX/hdSrTDs4eKXb2CJzgxFlNnNWEDqAD6AA6gA6gA+gAOoAOoAPoADqADqAD6AA64OkANWQr1Yj1MsvSmVNeJpxzH52RZzOeimTI2owotQmgeI3acM1H/byZToagzVjtN2KwzJz1rK6PW6lmqM1ItLsyzPXpfjl6msqYNM8P1OBNfT6UyRfK5LIZXzaTLi9D1c00tO12MvT89S+TsRePX3q8kuN7i4+Lzkg0QdUoQ03pjp9pmmM/qUw8T69s5nHh/vWWqTbDzvQvmJntZvrFHEz74qOanYy7KjVkU7WY7XHBKtPVjG9SQza/hm0qAzLnedFzYrvQnIPjarhFwb+oHQ5Xm6HrMlUZm5lanPnzPd0O7zrn/qmMdM/ekgzwpH3FdSQ7zm5mbLy9rKZ57HHyj10OzO84LhkYF9WeYOZpxME/rr2PjI8yUe145vTPnmjt1v5O2Vvl9T7fTn279DOqc+w2tV4UtZc0Z/+48DgbOkcX/BqyRXWt2t8Due2gRi01/ELxfOwCu8Au3H1W2AP2gD2wLqAD6AA6gA6gA+gAOoAOoAPoADqADgR1gAzZ3AxZbTG6xqEOxsXHGD+vMuvCGWtqpqUz8IpkyLq1MpO6l27tzuwMDtQ2dU4K1LUWTc3GQG1Y/UW/o4xerUidQVuSKUdeJBNNZl0446ssEt3/GRkZPc+vqZtqlAk4nyBDgxlytWfIZmt66tqP1TJkM7VQvWamMogzNUCTmqpBZa0lQ9atNaoiWplMOI+nydgu1L97dpPGO/aVBjcCmcpAzNaQTdf0NP2smiHr15Y1wVtRdnGXU7vYz1AMj3cm8zPI09Qy9jI4i2TIZmrymuBi5QzZKvP9nsEmgzuUQWo4O3WIE/sqOF+8zHBrd5n+ttg8tvP6LrG1aAeOU5niZad+qq2xmvawIo7i1mDV7/uZyX4t6qlKVwtmiKfnb569ZT2/op9LZR5n7C9cezk5slhlHhe1F7+mrdFt0bV74wxij4sdf18HatI1b4deuu5sTjuqRXJ5n52f7Pxk5yc6gA6gA+gAOoAOoAPoADqADqAD6AA6gA6gA+gAOhDUAROQ9YNm9flzpv5qhCEJGk2Va5Nag7beoT0G1EGWrsUXrgWbHPOrjqYN8I5rrDo1QN3LMvVdnTf9epipWpCBOrCB2o36bukao6Eag9FlccDCPX7Zq8XpdzFUn9JhHR2tal7puqZpnuExMxnHqfqU6Qbk9qWa6VcblwwPe0O/Hm22fmvC8lmxmXEt3b+03XltyLOp1Pj6453UGs3UX82MsT8XchioMsQ3OFnm/vODdqF/GZxXXjuaxjS/rWn7zL8uZc+zbO3g150jzZ3atRk7LKIjgZrHTZ7Hxe4Vmi6ZOsTueNlarQVtLThP8+r9BjWlgi7at0Kfc3438gEnEzvAMxEqXetYz92C9lK0LwXnQHN1rfocriaQvA8BCEAAAhCAAAQgAAEIQAACEIAABCAAAQhAAAIhAqXy+7NVKigvFWeKs2FVBqzzMlmL+jcqQKrfD1+vvoi/SCZG9S+HOTVPVXZZEnDRn7VZrGH8SfabyjxNX5Pb1ugy04Z5pq3Rl/42U9EG0O4SiTLeVJv8bC7zLPO5ubaObpy9qTLAkvb47UyytlT/k1fq936bosvC7Ujfz2Ycq7aLx9o+y9xngB2DAN/g8xM2/San++jeodK4RNfF2WzuuPltMmMUZ8iaJ6QY+7ZUvH95bUyzTLeh4mdcW/X7V9EulsphMUt37PRcKDSHgjzNZ6P6mYmdBfuQGuumMy3UVjv3/HFNmWDazgvNlzhDNq0j6f625DwueK/A1KrIKVVbV9WGTWubr4tJpqqjyYXtzWtcTZ+zc2OwHKaOeU/pQXju2uxUa++F7KVom4rOgabqWtF24ClAAAIQgAAEIAABCEAAAhCAAAQgAAEIQAACEIBAkwhQQ7ZSDVnnxMtgLVFb09OpyWqPfYxr/4VqJ8Y1Wm2tROfo1ri2q19z1M1wDl2fzoBOtWNbFZA1x1+aGpq6P/b5TtZsXHPUqSHq9C/OLrTXxTUynRqjAS7JcZ4qe0xEWqiGbLof+iSAuDZkhRqyyXVOu20tSxkljdOGSUOwpm2lcbEnEWTHJ7afuLZvpRqyfoZsUlOzaP/i40edWsK6JqkKkNpaql4tTGOXqVqn8XHN2fGNa7KGxtupnZo8z6/FmdiBDvoPjMYv084WriGr7cMdd6eGs1t7OXPibXZcs5zT4xqs6enVprY1niMGdv77GaQ5tZODNYHVRoxmz2M7/93ayU6t12o1ZGdJqlZ1Zp6a/umjm3vqE3gzuphTQ7awveXUYHY5B+3UfC5uj8szp1ZxBXuP6gObcc3Yi/2cy9OpFV2thmyq1nKqpm4lXQucmFK0HdR+oAYMNWCoAYMOoAPoADqADqAD6AA6gA6gA+gAOoAOoAPoADqADjRJB8iQdeLYlbNOba3HJENWf9SvAem/r66xGavmYSpz8/tLZOjY5U6GWKCWZE6GZ9UMTbdd6h5XiJzmZsim2m3b67VRJMpsHPmAraGbZKil64z2kfHjesvESW5fQly8bOAWyZB1syyTgVS1Lq+RKTJ0UjYDz9+2kKm5aLOB4wuLj0vq3ja72PxStelH8y+S0XFGZ5EMWf3hNG911G31/tnMwvHjlsvESUtNK/yM7EAbUtngIuLYT5JR7diKtVGvvzqTfLDM2PlaiQJSE1S90WyGbKE5VDQ7MDqy+LLsuAdsrSlMg20dcLiM73+XTKwwrqG6nknWsLUa3878sQqzy/a3Jedx8Xu5tm8zfiMuKjAbvQK6WMDWghmy6naF7C2wSammz+VkCZvbZuotz26QK3J1NtH+tL0U7EvOHHA56Bq/WhOr61pz2QQ+z68gAAEIQAACEIAABCAAAQhAAAIQgAAEIAABCEAglwA1ZDEOCHRCAk2uJdkJWdCltiWQV0O2bVvRAk+rVpO2BR7BLSAAAQhAAAIQgAAEIAABCEAAAhCAAAQgAAEIQKA+CJAhWx/jTC/rjEBuZmGdcaC7bU8gryZu27ekeU+M5tA9u6VqFDfvjnwaAhCAAAQgAAEIQAACEIAABCAAAQhAAAIQgAAE6pVAUkPWErBnP/OzJgAPfRY29rBW2UOmtiTjt1aN39o836IavfNH6UDmWqiftoZxdMyyrcXL/GH+4A/gD62Feob/hv+6NvsT2C/2i/0aAqw/fB/B9zF8H8Xfo/w9yt+j/D2KP4A/gD/QafwBMmTrNRRPvyEAAQhAAAIQgAAEIAABCEAAAhCAAAQgAAEIQAACEIAABCAAgVYnYGrIqhC73WrBv3rLBRzggB0wD9ABdAAdQAfQAXQAHUAH0AF0AB1AB9ABdAAdQAfQAXQAHUAH0AF0AB1AB5qnA2TItnrMmwdAAAIQgAAEIAABCEAAAhCAAAQgAAEIQAACEIAABCAAAQhAAAL1SsDUkHUi++WySImf40g/PLAH5kOSMc58YD4wH5gP9gQJ9AA9QA/QA/RAoh3i6CF6iB6ih+ghesh6wHqIP4A/gD+AP4A/gD+AP4A/UMUfIEO2XkPx9BsCEIAABCAAAQhAAAIQgAAEIAABCEAAAhCAAAQgAAEIQAACEGh1Ak4NWfssewYyP2sC8NBnw2MP2APzAT1AD9FD1gPWQ/wB/AH8AfwB/AH8AfwB/AH8AfwB/AH8AfwB/AH8AfwB/AH8AfyBWv0BMmRbPebNAyAAAQhAAAIQgAAEIAABCEAAAhCAAAQgAAEIQAACEIAABCAAgXolUCFD1u50ytvxxPt6JxR8wjvCsA/sg/mBPqCP6GNoxyzrA+sD6wPrA+sD6wPrQ/IFhL8uMj+YH8wP5oclgD6k/Wb0EX1EH9FH9FETYH1gfXC/V2F9XJvWRzJk6zUUT78hAAEIQAACEIAABCAAAQhAAAIQgAAEIAABCEAAAhCAAAQgAIFWJ0BAttUR8wAIQAACEIAABCAAAQhAAAIQgAAEIAABCEAAAhCAAAQgAAEIQKBeCRCQrdeRp98QgAAEIAABCEAAAhCAAAQgAAEIQAACEIAABCAAAQhAAAIQgECrEyiVV91dlpJz5nS5LPzs8Gi8SbYb+6wcNvlquXJoSaSD8Wk8b6yMnn+4NN6xrzSomra1tK/xZtlu7HIZP/tcGbOVOWu8ls/X+jzv+iU3/FyGTloqMuJUeWXCQInO+o6e/45MOXKKyBXnypiG5trjWzLlqItlooySxjv2k4Y27J/uT3s/P8SvJfm+IGcOulZmRmO4k0hZ/7xg3IUy66RNarPHZtpTYj/V9WzJDZfJ0Em9Zeqc42VoqST+z3Ethtawl8ecedds+27u/Gji5xc/LCOGT5d+Vhdt7YrW4LXWrk9qnl0kE+dJh10/alov2nB+tur8W2vtqcb1nfHqsOsP9t32/mYt/gHjw/hgL6w3+EdN/PuAvwec7zOq/z3KesN6w3rDesN6w3pD/IX1En+gPv0BMmSrxbzjgOxkuXJotYvb/v0kIDtMGtr+8c144gty5s7XikwOcI2Y20BxMx4RffRtHRQRFbRuD0bt/fwAvxblq8cxDsg2d7ja6PNxAPb5E6TNp3WL8m8jYP5jFj8iI4bfJf1C87edmtThHhuNs8jU9rCxDgeDBkEAAhCAAAQgAAEIQAACEIAABCAAAQhAAAIQqG8CpfL7d6stKRJH5O3ORv7VOxz9DNkOxiWTIdvB2pdrV4vfkiVbbSINofaGMneb3K+3ZMqRToZsk+9jdmzU/Pn2fn6g3S3K1w/INpVT234uCcgeL0PbWv9alH/bcovnc16GbM3zo53a3wbtXLL4HWnYamO9jrTB83gOnLGzzqsnzG/mN/Ob+Y0OoAPoADqADqAD6AA6gA6gA+gAOoAOrP06QIasF5DXgZql5rd9ZPy43jJxkjqy2M3kNFmP85IPp98XEZNBNte5f+Yam70Z36ePOT5Yfcg8o785Ctbex8vYtQHZ8f3vkomz7EXufdTvTDbquMNlwaS7JGqTOmL2wGdTmahR3+/ZTZJ7+fcx94+z404VGXutzLSPjY6t7R0f0xn9ekA2MzXN2LRFHXcrYo6OtfzT79ngeIw0cG/b16RNh8v4+XdlM2QNx/x7ZcdYH62s25n/MgHKmElTn5/3BO/+Ehgjv2/ONWH2Zsyq2FrUIs+uB447XPpNusvJkNXtWzDuIpl1Uk/TiQLzpfDGGL//no0YW18w7lQZec+10XGxITv0M2SDGbM+x8z4V2uL7veMQwwjOx++v0SGZjLAmzeuIXy6T+Joir6qWHZwlfZYDXA1xepKao4Um0eVNMFqYZrj1+V7cr/8OpD5HmnirMFJZmpAiwem7DNHH/PmelW7qGbvdo6EbfSVqP12RJ1+xINcwFYKzycuhAAEIAABCEAAAhCAAAQgAAEIQAACEIAABCAAgbYgYGrIOo+yGw3sr+ro58bzfiijZ6kA1zkyZisbfJoeBTB1DVmV6DRX18wcoGqSDhNVAlKimpCmzuwQFfFQx3lOF1F1NE/sqTcu2Ky4u8+RMX0V3Ln6qFd7nyhQomqqqgCKer76Uv9imRgFyVR9VfOK7mNr2oroNqvAZ9KeJTc691HnGJfMs1RgLn6+0ybT32xNVyexy7UH07+57v1Mu9RlMSvbx7hGrG2vw9jytNfEPNWRxefImKj9ls1S596GzzwVsFBZjs54ZZ4X4mPupcar5NwrqilqflZ1Z6cNkwY1fqYvujaqDTR6fKLAz3SZ29Tnp55ngLvzL3D/tM3YMU3sQyXmaXvorTkF+Tq2dulAba/q5dma/XlgzMBys0HRgfH8iDlVmC/Rfez8KKQ32o5TY7DoERlxqJlralzs80QkuX92PDU3W0PW2pf/s2tvZg7FYxtoixmfaN5HNpLwSfTD6oVj33Y+qXsb/nYuxp/zxyLWCzOuIX6Z9ih7fVvXVLa6EtL3Iu2xtlhxvjvc7XHhZnwS+xBpPN/RXVevYh4Bjhm9tPNF63N8f2Mfutatma++Xufpo7qlxyczLhn9yl8fEnu0euxopcMzM7+i+tfmuHXTn1hj4vnt6hnreUygjvyXqM/0N1m/4IE9MB+YD9afRQqcONQAACAASURBVA/QA/QAPUAPkj8QmA/MB+YD86HQ92/8fcnf1+bAN+xFE2D9ZP1swfWTDFkrLCaLSlKZUyoopeoAJhmyeVlnqaysAjUiw1lqNqNOZReKzjQtkiHrZoNF/fGza3PqfHrtzOub8/W+/t8gq/AzUjVuCzLWzN0asqGsy2w7MplxLos4k67IvZYHsjwzFDK/qOX5mZqreWycpxS5v0RZkSpIV6E2aoZvkWzsvFq4/rin+eZlY4b7UplxxXvNt5nYObbu1TytnCGbYyNOTdDtcjinazrnMPP4h+tApz9baFwz+ALPL1D7tUh7GirOZTt3czi67SykCZVtL5WNXQvbWFuL1kFupl3EOh16XriPvp0WGpvqUsUVEIAABCAAAQhAAAIQgAAEIAABCEAAAhCAAAQg0MYETA3ZNn5qR3xcXNfRZMfaNprMJZ1hFcj4stelPp9kQOljbp0MV3N9lNk638l8CgZTCmbIBu4TZwBG2aOBbD71PK/P6c9UGKQUE3udn0Gof+/2U1IZwO79vfb5YxF8nvq8m0XcK5xR7LVBB5KmS5wxFzcjnZEcZx6Lk4Fb0W5zMpr95wcyHfVt8z+v3w/zVe+kxi2Yaec1PGPrRbKxc2wo0+70dbl2njffimqD08/oI3GmeV470/x8Ww8xzNpITuNy21KJq8mQzcuEb8q4hppX8xzPt8NijALjHx2/G55HmQzvuA/ufdTmlIAW+nMr8HMKiZPFH/2+UrZziGWudiQXF7P3kI2G15a0nRYcm6JziOsgAAEIQAACEIAABCAAAQhAAAIQgAAEIAABCECgzQiQIWtQ52eHmvqCUQ3ZQD3E1FCl63nqLEDngrgGZV7Gl3uzIlmLKuA5VkZLtrZpOrOqUmZXkolarLZkkpnaL1VXt3qGrM7yc+rDemYe13X0Mzi9LOXkYy4j0UdAB+q82tq40bGfhe5l6sRmarGG6jna1uRn2YWenzvDc+vUBuqVpm7iti1rp6mamU3JkN1WBbLvkkwGeRQEc23QtTWT5R2o85nNgi6ieX59Xm336axBd77mz6eKGbK5NuLer0hbKs3hdBZprt2msp2rjGsQYWA8/Kz71Oeq2LFtTxScfEZGzj5XH+8evwJaU2EeZWrHBjUh57QAdW3KlgPPztQ8Dp0+UCCTN36WX088YGNV7T30vCIZsgXHpshU4hoIQAACEIAABCAAAQhAAAIQgAAEIAABCEAAAhBoUwJJDVl7Fna9/uvXeLUcUjUInQwlW2uzIK90fVaTzenWDM3cJ6fWY6iGrMqQtbVOzX3SNTKdjCxbszNQSzRTa1SdjR3qn6kxGWUQRjVYndq6bi3YkpMhO22YiF/LNO/+UY3HbI3N9POc2q8qwHRpr3BtzLKpUWmziEM1JaN25PD27GCuzfQrOl7+8/PsrKodebUxq15vx8XW6HRqqvp8bc3ciKOpIZupjZz3fJ9b+ro4Y9Czz0xN5QL90bVGTaalc330ezu+gRqlIfusWEM2U2M0Ow90BvVgmRrVHE7eT/c3Ry9S/PPtrtp81DzcWrnh+RrzuULkNJsdHs/bxE40p4LtyZ1HVezU1kA182g7r5ZvUG/y7NPRnahm7DazZbuxktRKDtWCjuzGH5ccffT1qahdBPQ4be+h5xnutl5sUMfz1x/fnsMcc/Q8T4f5fXj9gwtcCqxXWk99feVnuGAXzAt0AB1AB9ABdAAdQAfQAXQAHUAH0AF0oJ51wDuy2H6DZIPCdfSzOY5S1Bf7J/U0AFRE0daQVUcWlyTJrFNHASd8wsf9uvzSR1Lq43tVrU91n4S3zvZTRxl/Ue7PHNNpn79UDouOUC7p7EAbpIrb4x9taQMAKjts4yTiX/U405zxj4/uVFnD6htH9QodqWvaZ4Nlix+NsiyTo2DN/f37xe1S2Xfq/jnH9Zr72TGLg2QxU3X/t/Rxp1GgYz9pED/LzLQ/b/yjFUK/sserpvnU8vwogHTSJmYFTvjp3zv25zw/exyqfn7ye9W/pL0mUp7ll+EbPgrVbiLQthY6UlU9P6+GrO5fknmujgJPeGVZKQaV9KbK86Mji6uPr7W9ikcWx0d8e/Mltt8LZadfKZtSdWv3lYbYQoydxscnv+PUgVbHlpv+efwTFqrurx2/vP664+vPixx+5nmHjRCZOX+wRJniUZvD1xdqT0W9tMcxh++fzKNzZYw87Bwh7lwfOio+yux1j3/X10f3u2ewjO8/XSZGpwXYa3L42COmM0cWe+Od4eMfNZzVr3GvqlMARMbPrmTvIT0Oj7e/3lTU+4w91tH6XcGekwUPHjpCWIf+HfZRZX2ttv7yfmX/BD7wYX1hfWF9xb/Av9IE0EP0ED1ED9FD9JD1gPUQf6CaP5BkyFrNzNvRXwfvpwJuKmJRSmrB6qCUkwlqgy6Kl8kYjQKDKgM1lEnlBzBMJt/MOHhja7qqIzF15qnOkLNf7tujgqfLXBETkDUZqOpYZCczVWfOqeOTz5ExTj+iYF9ehuxWXi1S3w7c8Q9lyPpBU/N5P4iogz19ZPzd58iYvk5GnpsZFrh/OjjofG6eW5vSCcCYTM84M9kZL83VBLWjTEETDFH3ijIes/eJa7x6GWzxjp6IT1Ofb8cxm3GZur8bSLKZrF7GdGzDMV/J2mMuX0nGJc5kTGxNXBs2dhTX2o3tz8+Q1D/Hdu5k3g507bGAvsS2E9u1Y//x+Jrn2TkSja8TKDWZuhUzZEt2LtiND6px6YDZK74d2/qlai6qtkTPCQS6A5npVj/mKoae3VrdqTqudldHUL+tfZtsWhXwLzC/K7VHYvswOqOOLc7YZ2Ajhc3AdeZRVq8c1j7H0MkExp5dXdT9c+a13aRhnz/PaGZ0vwIZssY+c3Uo7k8Rew88z7OvBj9D1rbfcnf0PqtngZ2WBeZXdEkdr//0n/HH/nN26KIfmgD6mHyv4GaAYx/YB/MDfUAf0cfQySCsD6wPrA+sD6wPrA+sD5W/f4VP3fIhQ9bLGPFrGh42bpQsmDTdZHXamZIEOKyfaTNW4wi4CZQlu6NUMMTPwDIZdCo4EL2c4Eb0s82Ate8Plqmz+8gV9thRmyE7f5TODovr1dogpW1vB8mQNTsm4yCp7VacqRbgGwhYx0zjz9nfOBmb9lcDDJsoS9fJIPXHJ67d6mX8ugM4wM+IDO348GqLFn1+nOFZbUehX0vWtRknY9Cr1Zu2T8d+Hb5xcDXqs7K1BrnCz2herDMaVfAreo0YJePnT5eJcV1SWx/TzQD254tts59h7mw+MPbv7yjx6zKroO41MtVsXFAZ1fb5o6TfpOkyM2Vjqjaw5ls5Q9Z8KGgjSYZmmpee39fIFGcTRbEMWf20ZPOH/tnWBPYztNM1mOONIjm80v2tzjfhXaU9NoPV6KO1hyjInsrwDtQ+jm3OH3+nb6n5GM7gTjzbQOA15mEy5GON1RsMRj7gHH+dlxGdt8M71y7y1gff3pueIavHJzQ26RMbtA2xI63ajjTer7be8H7iAjCfmC/MB+aD+/cG9oA9YA/4m/jb/L2Bf4h/iD+AP4A/gD+AP4A/ULs/QA3ZvB07/D68kwcucAnt4GkBu2g8/+ey4BSbOd3Us/SbXmu3M59dn1vLtwXGrTNzo6ZFU+chn2NeUBMH/UAH0AF0AB1AB9ABdAAdQAfQAXQAHUAH0AF0AB1AB1wd8DJkk70t/B8EIACBtiOgsv6elZGpmspNebpf57Mp9+hsn9FMxB673tm6R38gAAEIQAACEIAABCAAAQhAAAIQgAAEIAABCEAAAh2cQCBDtixSKuWfdV/mffhgH/k7W5gfTZofjTfLiFeHy6wTN26m/rwgZw66TqJ6yaFaqXWlX8nRtvFRwnXV/9AOPOZnk+ZnnEkNP/ix/rP+5+1sRR/QB/QBfUAfwhkw6CP6iD6ij+gj+sj3E1kdYH1kfWR9ZH2sz/WRDNkOHjGneRCAAAQgAAEIQAACEIAABCAAAQhAAAIQgAAEIAABCEAAAhCAwNpLoFReNSupQh5lxjpFyTM1aXkfPthHPN2ZHzqT3r7QD/ST9cOZD2YHLPNDE0Af0Af0AX2I9RB9xH/Cf8R/NgTwD/AP8A/wD/APzN9L+Ef4R/hH+Ef4R3x/xPdn9fD9IRmya28wnZZDAAIQgAAEIAABCEAAAhCAAAQgAAEIQAACEIAABCAAAQhAAAIdnIDOkLWZfvxboXZu3pnW/B77CdWCwC6wC+wivxYC84P5wfxgfqAD6AA6gA6gA+gAOoAOoAPoADqADqAD6AA6gA6gA+hA/egAGbIdPGJO8yAAAQhAAAIQgAAEIAABCEAAAhCAAAQgAAEIQAACEIAABCAAgbWXQLqG7NrbD1oOAQhAAAIQgAAEIAABCEAAAhCAAAQgAAEIQAACEIAABCAAAQhAoMMRKJXfn1UWcqLrJyeaMxA4A4H5znxHB9ABdAAdQAfQAXQAHUAH0AF0AB1AB9ABdAAdQAfQAXQAHUAH0AF0oM10IFxD1saN82rK8r4mAJ9wzV3sA/tgfqAP6CP6WA6sk6wPrA+sD6wPrA+sD6wPWR1gfWR9ZH1kfWR9ZH1kfWR99HUA/wD/AP8A/wD/oNP5B2TIsgOEHSDsAGmzHSBhBc1bWfg9vEJ/kWIX2AV2wckm6AA6gA6gA+gAOoAOoAPoADqADqAD6AA6gA6gA+gAOrB26QA1ZDvcKdI0CAIQgAAEIAABCEAAAhCAAAQgAAEIQAACEIAABCAAAQhAAAIQ6CwETIZsZ+kO/YAABCAAAQhAAAIQgAAEIAABCEAAAhCAAAQgAAEIQAACEIAABCDQcQiQIdtxxoKWQAACEIAABCAAAQhAAAIQgAAEIAABCEAAAhCAAAQgAAEIQAACnYwAGbLtNaCNN8t2Y1+X8bPPljFbtVwjltzwCxk6qZdMff54Gdpyt+VO8rZMOfISmdj/FHllwsBcHo3nnS4zDrxKrjTwGQ9MBwIQgAAEIAABCEAAAhCAAAQgAAEIQAACEIAABCAAAQjUN4FSedXMMsWf26H482MmIHv3WTJmq3Z4vqxdxY7bvzj1WzLlqJ/KxP4nyyuX7iTB9ixulBGHTpd+k6+SK4fAF11hXrf/vGUeMg+Zh8xDdAAdQAfQAXQAHUAH0AF0AB1AB9ABdAAdQAfQAXQAHWh/HdBHFqt22Je1S37WBFqLh82QvftsGdMX/h3f/nIyZF37WPyojBhuArI2Pbm17If52brzE77wbU39x76wL+yr9fwr5hfzi/nF/ML/1t+zoIfoIXqIHqKH6CHrAesh/gD+AP4A/gD+QIfyB8iQ9TNFo8zV55IFe8BIaZw2TBrUdSYDUsZdILNO3FiSHQUvypmDrpOZI06RVy7dUf++0n3i91+X8SZDdsmN5qjhOcfJ0OgvaDVTAveVsiy58XIZOmlp3MaBTnuC93nsd16fRknjtKHSYJ6j79dLpt7dIFccOl3mmju797XK1Xj+6TJ6lvMHvuwqU+eo45HtzDaZpPOca1wuuZm5/uf6yHgVrN7K2blSpR8Sva+YDpcXDr1OZtomFHp+lqukPlclQzZnvCU0rkXHY7LIaMcWD1OZt9s8IiMOneGM0U9k1ombaHuJM3RPERlbrf8vyJmDfpMwkgDv2A7bf+cIO7jYwcUOLuYhOoAOoAPoADqADqAD6AA6gA6gA+gAOoAOoAPoADqADqAD6MDaqgPUkHXihrre51KJAl9RhqPJipRR0njHvtKQ+dl82KsHm3ufebsmtV2Dn/Frv86VM3c2gV5Tt1TVKB09q09Se9ZkZUZB4pN6il+ztEhb7DUywPZTzH1cFiLRs+cn1xTjo/uwwLTPDeUm/2/6mXm+xP0s0g+JmKpgus/5OYmCyyf1DD9eTN9cruKzL1BDNpAhW3g8YhtL2LvjocddNT/bt9hezfNVQD2x4awNib1OBZyNXWX55qLiDQhAAAIQgAAEIAABCEAAAhCAAAQgAAEIQAACEIAABCAAgRoImAzZGj7RaS+dqzMGR6gaoQOTXqrg1aEzRMapTMSekmRhqtqv+rLG88+Q0fNVJq0K2ur7LLDX2ztVuU+cpRplyNqX1yZzj36TfylXDkmaGH32nl2j54vNdo3uU6wt+tlisnXTz477kfPsNI+c51WxmXDf345qts44RHF/vQamz8lhKT76Prr2qzOubpv8sbHvmUxWfb/i93HHJ923YjYWHI9UWyqPUWyrqX7YbGzfXu1Fpn9i7bjTTnQ6BgEIQAACEIAABCAAAQhAAAIQgAAEIAABCEAAAhCAAATalIAOyJZKIuWy1PW/JrsyCr4NdXk4R9VO2EmkrI96jQKVJ22S/XmRPlI2CspVuk9cQ/YsGdO3lGS2qkBqPB4vJhmy6ihkeyTv7LNlTEN4vOKMTHWfJY1JTdMh7vXvyJQjL5GJ/fURy3HQ8PnjZWhsB34/A5+PjyVWx93qfmQyOQvYVRzQvmOYNISuL9iPMB9//LLc4gBohqvmH2X3nlhOAruRHQT4B9qZGo84qHqVXFnreATt023fxiJ5nMzv9VHb+f0I20Gd60IB+61r3YRPfa+bjD/jj/+I/4wOoAPoADqADqAD6AA6gA6gA+gAOoAOoAPoADqADhTSATJkvWzI3HC4kzmbyoiN65aajNlgJqO6q5dh6X2uSIZsOJM13eLUfQq2pciz1VOifsf1Y1Xt2ONkqN9/daFfIzWqM+tm/rptLpCZWbAfoezlmHuFzE+/Jq9vAwOjbGcpnGmbmyGb4eI9ydhYcDwKZ8g+JyOjusTuvd3MZZ1tnMkEF0kC87lj1aabRXgYBCAAAQhAAAIQgAAEIAABCEAAAhCAAAQgAAEIQAACEOgUBJIMWTHFoG0ku95+9jJW46LAIR5Opmq/a0+X0aJqce4oUTHpvAxZeUumHGmOzlUZltUyZCP+TobshB1lyQ3maGGVyblVeLySmqXHydDFTobsUPf6Ahmy8oKcubMJ3MXtNccBq8xfax9xLVwVBHQyi+37hsdcW/s0w9NksKqAqZsh69pfKPMzet/ph+Lf+DvZbuzrpu6s7W/1+wczQzP2741faH4EeKfGI9g+k4Hq3C/YHj9D1rEPXZ93Y5G88S6SIStlY1+2jnGd60G96R/91fpdr+sf48/4Y//Mf/RP72RFD9FD9BA9RA/RQ9YD1kP8AfwB/AH8AfwB/AH8AfyBVvIHyJCN4+p59U9Dv7f1TUdKv0kzRFI1S4vVCfWzOYNZkaa26VybnVugjuvXH1FB214mI7VYW4pkyOZl5+qsWXNkcSorM9mwUC2zN/x8t9ZpL5nUxPq+RTJkJY9r6vctV0M2U1/Yq/XbvAxZp96xHQIvi1mPmZ+1XCBTuVPsQaETEIAABCAAAQhAAAIQgAAEIAABCEAAAhCAAAQgAAEIQKBtCZgM2STgbQO/9fivPbo2qiM7RG8IazzPCV45G+d1tupSkSjz8zixCaiKW/Y+b+vs2HkmCKbuY7Mlo9qrIrLo0aj2rES1aXuKlE2ATNVptQHZuD22ZqsaNyfoOmFgkuUY1aIV8/NS0bVx1fX2vkm7k4xMtx/p++r2PifR8b1R+9yjiW175iZZtZcOjPjFz4syYPcVVfpW/97913xuwEhpnLavNMR8bEZusX4kNWTPkjEN9v5OoDH3+XacXa7+55yA7ISBXvttf3Q/4oBrzN8EyIPjYY+CrjIehn8yjqp/3vOWPCojhs+QueL0w9hVFNS37bbXOXZl7Tl9f3ShHnUwOz+xA+wgpNvYBXaBXaCX6AA6gA6gA+gAOoAOoAPoADqADqAD6AA6gA6gA+hAUR0gQ9YPgPt1Pm2Q0L/Oz16tdh+nBm10aYHaq4dN/ons9CtzzLEKcJqXX/NU1zjtGb1bKbsyvoHXliIZskmbn0t6qthcLnKaDSRHbTCBXJdHHsMUMycAHf0+kHXrj00RprZ2b4Uasnlc40B4dEGBDNlUnV0dfN/uRjdj2Typio01N0O237iRsmCSCszql2sfCXJ/nPyM2Zzs6rbdMMLTIAABCEAAAhCAAAQgAAEIQAACEIAABCAAAQhAAAIQgMBaTyDJkLVdCWYwOv3k/UCGJ3xiAthH+9mH2iQwfIb0czK8450ZzG9NAPtsP/uEP/bH/GP+ZU7IwH/CfzIE0Af0AX3I+gn47/jv+M/4z6yPrI+sj6yPvg7gH+Af4B/gH+AfrNX+Qam8akY53IO8keX38Ap5hNhFu9vF4sbo2GsdkGU82n08OKuCsyqKnlXBdZxtg16gF+gAOoAOoAPoADqADqAD6AA6gA6gA+gAOoAOoAPoQKfWgfSRxTbOZnfb8LPecQEPTQB76Nj2YGrDZjJksV/sl/mLfqHfHVu/GR/GB38Tfxt/DX8Nfw1/DX8AfwB/AH8AfwB/AH8AfwB/AH8Af6BT+wNkyLLjoFPvOMg/w4AMUjJIyfRmfqAD6AA6gA6gA+gAOoAOoAPoADqADqAD6AA6gA6gA+gAOoAOoAPoQOvrQFJDFnvD3lrf3tB15hnzjHmGDqAD6AA6gA6gA+gAOoAOoAPoADqADqAD6AA6gA6gA+gAOoAOoAN1pQMmQ9Y5lpf/hQAEIAABCEAAAhCAAAQgAAEIQAACEIAABCAAAQhAAAIQgAAEIACBFiHgHFlsT661IXl+1jVT4aG3KGAP2APzAT1AD9FD1gPWQ/wB/AH8AfwB/AH8AfwB/AH8AfwB/AH8AfwB/AH8AfwB/AH8AfyBWv0BMmRbJK7NTSAAAQhAAAIQgAAEIAABCEAAAhCAAAQgAAEIQAACEIAABCAAAQhkCeiAbKnknNVdFn6Gh8Rnl2MPzAfmA/PB2fHGesF6yfpgaluwPrI+sj6yPrI+xjvC8Q/wD/AP8A/sCWPoAXqAHqAH6IE+cRE9RA/RQ/QQPUQPvfWADFnC9BCAAAQgAAEIQAACEIAABCAAAQhAAAIQgAAEIAABCEAAAhCAAARaiQAB2VYCy20hAAEIQAACEIAABCAAAQhAAAIQgAAEIAABCEAAAhCAAAQgAAEIEJDFBiAAAQhAAAIQgAAEIAABCEAAAhCAAAQgAAEIQAACEIAABCAAAQi0EoF0QDY607rCk3gfPthH/gRhfjA/mB/MjzwC6AP6gD6gD+hDmAD6iD6ij+gj+og+hgiwPrA+sD6wPrA+sD6wPmQJsD6yPrI+rtXrY6m8arqqMu50wlabtr/iZ/hgH8kEYT4wH5gPzAfWR00APUQP0UP0ED1ED1kPWA/xB/AH8AfwB/AH8AfwB/AH8AfwB/AH8AfwB4r4AxxZnB9P5x0IQAACEIAABCAAAQhAAAIQgAAEIAABCEAAAhCAAAQgAAEIQAACzSLgZMjanSz8q3e0wAEO2AHzAB1AB9ABdAAdQAfQAXQAHUAH0AF0AB1AB9ABdAAdQAfQAXQAHUAH0AF0oHk6QIZss+LZfBgCEIAABCAAAQhAAAIQgAAEIAABCEAAAhCAAAQgAAEIQAACEIBAPoFS+b3pZUrIOoA48p4j7znyPpkQzAfmA/OB+WAJoAfoAXqAHqAHmgB6iB6ih+gheogesh6wHuIP4A/gD+AP4A/gD+AP4A/U6A+QIUu4HgIQgAAEIAABCEAAAhCAAAQgAAEIQAACEIAABCAAAQhAAAIQgEArETA1ZFvp7twWAhCAAAQgAAEIQAACEIAABCAAAQhAAAIQgAAEIAABCEAAAhCAQB0TCGTI+jm2Ph3eT5/JAZ80AewD+3DPbGF+MD9cAugD+oA+5PuczA/mB/OD+ZFHAH1AH9AH9AF9CBNAH9FH9BF9RB/RxxAB1gfWB9YH1oeOuT4kNWStTvGv1is4wAE7YB6gA+gAOoAOoAPoADqADqAD6AA6gA6gA+gAOoAOoAPoADqADqAD6AA6gA40UwfMkcW+JdnocZ6F8b4mAJ/wDMQ+sA/mB/qAPqKPIQ+F9YH1gfWB9YH1gfWB9SGrA6yPrI+sj6yPrI+sj6yPrI98P5/WAfwj/CP8I/yjzucfZWvIktFPRj8Z/WT0d8yM/sQvo32cSMOJNFkCrN+s36zfrN+sj6yPrI+sjz4B/AP8A/wD/AP8A/wD/AP8A/yDNAH8I/wj/CP8o3byj7yArI04+ztQ+Dm9IwUe8HB36GAP2AP2kOzYYj4wH5gPzAf8Sb2DCD1ED9FD9BA9RA9ZD1gP8QfwB/AH8AfwB/AH8AfwB/AH8Ae0P1Aqv3dXWUol50SAsvAzPJIautgD84H5wHywJ7SjB+gBeoAeoAe6YgV6iB6ih+gheogesh6wHuIP4A/gD+AP4A/gD+AP4A/gD+APFPcHskcW5ycr8w4EIAABCEAAAhCAAAQgAAEIQAACEIAABCAAAQhAAAIQgAAEIAABCNRAgAxZMhzIiCZDnAx5WzsCPUAP0AP0AD0wJ4qxw5MdnsV3eLIjmvnCfGG+kCFFhhQZUmRI4Q/gD+AP4A/gD+AP4A/gD+APVPYHyJCtIXrNpRCAAAQgAAEIQAACEIAABCAAAQhAAAIQgAAEIAABCEAAAhCAAARqIWAyZFXkXu3gUDt5VASXn+GBPTAf0AP0kPWA9RB/AH8AfwB/AH8AfwB/AH8AfwB/AH8AfwB/AH8AfwB/AH8AfwB/AH8Af6C5/gAZsrWEr7kWAhCAAAQgAAEIQAACEIAABCAAAQhAAAIQgAAEIAABCEAAAhCAQA0EqmTI2p0veTtgeD85Gz+0QwQ+8LG1A7CP7A4i5gfzg/mRv8OW+cH8YH4wP/C/wzvQ0Uf0EX1EH9FH9JG/r/n72s/QwT/AP8A/wD/AP8A/wD/AP+j4/gEZsjVEr7kUAhCAAAQgAAEIQAACEIAABCAAAQhAAAIQgAAEIAABCEAAAhCAQC0EdIYsLwhAAAIQgAAEIAABCEAAAhCAAAQgAAEIQAACEIAABCAAAQhAAAIQaHECpfIqFZAt+Wd78HP6rA94wMM9+wR7SjoQWQAAIABJREFUwB6wB9YNdAAdQAfQAXQAHUAH0AF0AB1AB9ABdAAdQAfQAXQAHUAH0AF0AB0opANeDVljNzbumxen5X1NAD4SnGfYB/bB/EAf0Ef0UZ2/4dsB6wPrA+sD6wPrA+sD6wPrI/5BWgfwj/CP8I/wj/CP8I/wj/CP8I/wj1wdwD/stP4hGbJE7gtF7sOeEZnVcAl5jNgFdoFdcPIEOoAOoAPoADqADqAD6AA6gA6gA+gAOoAOoAPoADqADqAD6AA6YHWAGrItfgo0N4QABCAAAQhAAAIQgAAEIAABCEAAAhCAAAQgAAEIQAACEIAABCBgkn51DVleEIAABCAAAQhAAAIQgAAEIAABCEAAAhCAAAQgAAEIQAACEIAABCDQ0gTSGbI2c9g+hZ91JjE8NAHsAXtgPqAH6CF6yHrAeog/gD+AP4A/gD+AP4A/gD+AP4A/gD+AP4A/gD+AP4A/gD+AP4A/UJM/YGrItnSct77ut2L5cln20svy5sJFsuKfy2XVO+/Ih6tXy6cff1xfIOhtixJYp0sX2aBbN9lw442lx+a9ZdOt+8oWO2wvPXr3btHncDMIQAACEIAABCAAAQhAAAIQgAAEIAABCEAAAhCAAAQgAIHWI1Aqv3dnmaLCtRcVXrP6fXnpib/IgmeekbeXLG29EeLOEPAI9GzoI/12Gyw77L23dO32GSd1uXY7pqg8ReXRf+YNOoAOoAPoADqADqAD6AA6gA6gA+gAOoAOoAPoADqADqAD6AA60Lo6kM2Qtc/LC4PV+fsffbhG/nbffTLnoUfIgCVU2q4EVAbtoP2HyS4HHyTrde2q21Ln85P+m/g8+h0mwPzQfjX2gX2ECDA/mB/oA/rI+sD6wPqQJcD6yPrI+sj6yPrI+sj6yProE8A/wD/AP8A/aKJ/YDJk7ac59LvSod/zn3panr5zuqxeubJdA3E8HAIugW7du8vuR4yS/nvsYSKyzGdNAD2jiAFFDBKtYD4wH5gPzAf8A/wD/CP8Q/wB/AH8AfwB/AH8AfwB/AH8AfwB/AH8AfyB9vIHqCFbMLb3+C23ybzH/7fg1VwGgbYnMGCfr8o+xxzd9g/miRCAAAQgAAEIQAACEIAABCAAAQhAAAIQgAAEIAABCEAAArkEvAxZSPkE1qxeLQ/9Zqose+kl4ECgwxPYYocdZP+TR0vXbt06fFtpIAQgAAEIQAACEIAABCAAAQhAAAIQgAAEIAABCEAAAhCoBwI6IFtyihWXy8LPmsea1R/IfVf/St5YuLAebIE+dhICm229tRz0w9Oka7fPijCf0TP0PSmuzHxgPjAfmA+22Dh6gB6gB+gBeqBLfKCH6CF6iB6ih+gh6wHrIf4A/gD+AP4A/kCb+ANkyFYIws3+5WQyYztJkLLeuqEyZYefMbbeuk1/IQABCEAAAhCAAAQgAAEIQAACEIAABCAAAQhAAAIQgECHI1Aqr7" id="532" name="Google Shape;532;p59"/>
          <p:cNvSpPr/>
          <p:nvPr/>
        </p:nvSpPr>
        <p:spPr>
          <a:xfrm>
            <a:off x="123825" y="-1074738"/>
            <a:ext cx="5400675" cy="2724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3" name="Google Shape;533;p59"/>
          <p:cNvGrpSpPr/>
          <p:nvPr/>
        </p:nvGrpSpPr>
        <p:grpSpPr>
          <a:xfrm>
            <a:off x="1758464" y="1031462"/>
            <a:ext cx="8932986" cy="3470893"/>
            <a:chOff x="1758464" y="1031462"/>
            <a:chExt cx="8932986" cy="3470893"/>
          </a:xfrm>
        </p:grpSpPr>
        <p:pic>
          <p:nvPicPr>
            <p:cNvPr id="534" name="Google Shape;534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58464" y="3094028"/>
              <a:ext cx="2782175" cy="140832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35" name="Google Shape;535;p59"/>
            <p:cNvCxnSpPr>
              <a:stCxn id="536" idx="2"/>
              <a:endCxn id="534" idx="0"/>
            </p:cNvCxnSpPr>
            <p:nvPr/>
          </p:nvCxnSpPr>
          <p:spPr>
            <a:xfrm rot="5400000">
              <a:off x="6025017" y="-162953"/>
              <a:ext cx="381600" cy="61323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rgbClr val="00772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pic>
          <p:nvPicPr>
            <p:cNvPr id="537" name="Google Shape;537;p5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818277" y="3071061"/>
              <a:ext cx="2782175" cy="142606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38" name="Google Shape;538;p59"/>
            <p:cNvCxnSpPr/>
            <p:nvPr/>
          </p:nvCxnSpPr>
          <p:spPr>
            <a:xfrm>
              <a:off x="4529281" y="3624953"/>
              <a:ext cx="288996" cy="2930"/>
            </a:xfrm>
            <a:prstGeom prst="straightConnector1">
              <a:avLst/>
            </a:prstGeom>
            <a:noFill/>
            <a:ln cap="flat" cmpd="sng" w="9525">
              <a:solidFill>
                <a:srgbClr val="00772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pic>
          <p:nvPicPr>
            <p:cNvPr id="539" name="Google Shape;539;p5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900573" y="3060510"/>
              <a:ext cx="2790877" cy="14278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40" name="Google Shape;540;p59"/>
            <p:cNvGrpSpPr/>
            <p:nvPr/>
          </p:nvGrpSpPr>
          <p:grpSpPr>
            <a:xfrm>
              <a:off x="1760239" y="1031462"/>
              <a:ext cx="8902786" cy="1685321"/>
              <a:chOff x="1030475" y="1770007"/>
              <a:chExt cx="8902786" cy="1685321"/>
            </a:xfrm>
          </p:grpSpPr>
          <p:sp>
            <p:nvSpPr>
              <p:cNvPr id="541" name="Google Shape;541;p59"/>
              <p:cNvSpPr txBox="1"/>
              <p:nvPr/>
            </p:nvSpPr>
            <p:spPr>
              <a:xfrm>
                <a:off x="2125173" y="1770007"/>
                <a:ext cx="139797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s-CO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Inicio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2" name="Google Shape;542;p59"/>
              <p:cNvCxnSpPr>
                <a:stCxn id="543" idx="3"/>
              </p:cNvCxnSpPr>
              <p:nvPr/>
            </p:nvCxnSpPr>
            <p:spPr>
              <a:xfrm>
                <a:off x="3810875" y="2746780"/>
                <a:ext cx="288900" cy="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772F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pic>
            <p:nvPicPr>
              <p:cNvPr id="543" name="Google Shape;543;p5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030475" y="2042616"/>
                <a:ext cx="2780400" cy="14083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4" name="Google Shape;544;p5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098543" y="2046802"/>
                <a:ext cx="2762116" cy="14085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6" name="Google Shape;536;p5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7171145" y="2042615"/>
                <a:ext cx="2762116" cy="140832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45" name="Google Shape;545;p59"/>
              <p:cNvCxnSpPr/>
              <p:nvPr/>
            </p:nvCxnSpPr>
            <p:spPr>
              <a:xfrm>
                <a:off x="6881813" y="2746778"/>
                <a:ext cx="288996" cy="29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772F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cxnSp>
          <p:nvCxnSpPr>
            <p:cNvPr id="546" name="Google Shape;546;p59"/>
            <p:cNvCxnSpPr>
              <a:endCxn id="539" idx="1"/>
            </p:cNvCxnSpPr>
            <p:nvPr/>
          </p:nvCxnSpPr>
          <p:spPr>
            <a:xfrm>
              <a:off x="7581673" y="3774424"/>
              <a:ext cx="318900" cy="0"/>
            </a:xfrm>
            <a:prstGeom prst="straightConnector1">
              <a:avLst/>
            </a:prstGeom>
            <a:noFill/>
            <a:ln cap="flat" cmpd="sng" w="9525">
              <a:solidFill>
                <a:srgbClr val="00772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47" name="Google Shape;547;p59"/>
          <p:cNvSpPr txBox="1"/>
          <p:nvPr/>
        </p:nvSpPr>
        <p:spPr>
          <a:xfrm>
            <a:off x="5266592" y="1031462"/>
            <a:ext cx="15650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Usuario</a:t>
            </a:r>
            <a:endParaRPr/>
          </a:p>
        </p:txBody>
      </p:sp>
      <p:sp>
        <p:nvSpPr>
          <p:cNvPr id="548" name="Google Shape;548;p59"/>
          <p:cNvSpPr txBox="1"/>
          <p:nvPr/>
        </p:nvSpPr>
        <p:spPr>
          <a:xfrm>
            <a:off x="8317523" y="1031462"/>
            <a:ext cx="197826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Inicio Sesion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9"/>
          <p:cNvSpPr txBox="1"/>
          <p:nvPr/>
        </p:nvSpPr>
        <p:spPr>
          <a:xfrm>
            <a:off x="1687399" y="2823972"/>
            <a:ext cx="16687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Materia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9"/>
          <p:cNvSpPr txBox="1"/>
          <p:nvPr/>
        </p:nvSpPr>
        <p:spPr>
          <a:xfrm>
            <a:off x="5749218" y="2823972"/>
            <a:ext cx="9202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9"/>
          <p:cNvSpPr txBox="1"/>
          <p:nvPr/>
        </p:nvSpPr>
        <p:spPr>
          <a:xfrm>
            <a:off x="8948277" y="2823972"/>
            <a:ext cx="16687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8"/>
          <p:cNvPicPr preferRelativeResize="0"/>
          <p:nvPr/>
        </p:nvPicPr>
        <p:blipFill rotWithShape="1">
          <a:blip r:embed="rId4">
            <a:alphaModFix/>
          </a:blip>
          <a:srcRect b="21157" l="0" r="0" t="46424"/>
          <a:stretch/>
        </p:blipFill>
        <p:spPr>
          <a:xfrm>
            <a:off x="0" y="0"/>
            <a:ext cx="12192000" cy="2631882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8"/>
          <p:cNvSpPr txBox="1"/>
          <p:nvPr/>
        </p:nvSpPr>
        <p:spPr>
          <a:xfrm>
            <a:off x="0" y="1899034"/>
            <a:ext cx="12192000" cy="732848"/>
          </a:xfrm>
          <a:prstGeom prst="rect">
            <a:avLst/>
          </a:prstGeom>
          <a:solidFill>
            <a:schemeClr val="accent5">
              <a:alpha val="67451"/>
            </a:schemeClr>
          </a:solidFill>
          <a:ln>
            <a:noFill/>
          </a:ln>
        </p:spPr>
        <p:txBody>
          <a:bodyPr anchorCtr="0" anchor="t" bIns="180000" lIns="216000" spcFirstLastPara="1" rIns="216000" wrap="square" tIns="18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77FE32"/>
                </a:solidFill>
                <a:latin typeface="Work Sans"/>
                <a:ea typeface="Work Sans"/>
                <a:cs typeface="Work Sans"/>
                <a:sym typeface="Work Sans"/>
              </a:rPr>
              <a:t>NOTA: </a:t>
            </a:r>
            <a:r>
              <a:rPr b="0" i="0" lang="es-CO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Remplazar fotografía por una relacionada con el tema de la presentación y eliminar este cuadro de texto. Fotos disponibles en: </a:t>
            </a:r>
            <a:r>
              <a:rPr b="0" i="0" lang="es-CO" sz="1200" u="none" cap="none" strike="noStrike">
                <a:solidFill>
                  <a:srgbClr val="77FE32"/>
                </a:solidFill>
                <a:latin typeface="Work Sans"/>
                <a:ea typeface="Work Sans"/>
                <a:cs typeface="Work Sans"/>
                <a:sym typeface="Work Sans"/>
              </a:rPr>
              <a:t>https://www.flickr.com/photos/198275007@N06/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8"/>
          <p:cNvSpPr txBox="1"/>
          <p:nvPr/>
        </p:nvSpPr>
        <p:spPr>
          <a:xfrm>
            <a:off x="695325" y="3429000"/>
            <a:ext cx="1425934" cy="405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Título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8"/>
          <p:cNvSpPr txBox="1"/>
          <p:nvPr/>
        </p:nvSpPr>
        <p:spPr>
          <a:xfrm>
            <a:off x="695325" y="4076700"/>
            <a:ext cx="3854368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Lorem ipsum dolor sit amet, consectetuer adipiscing elit, sed diam nonummy nibh euismod tincidunt 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62626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AutoNum type="arabicPeriod"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Lorem ipsum dolor sit amet.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AutoNum type="arabicPeriod"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consectetuer adipiscing elit.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AutoNum type="arabicPeriod"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diam nonummy nibh euismod tincidunt 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8"/>
          <p:cNvSpPr txBox="1"/>
          <p:nvPr/>
        </p:nvSpPr>
        <p:spPr>
          <a:xfrm>
            <a:off x="6787979" y="4076700"/>
            <a:ext cx="3854368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Lorem ipsum dolor sit amet, consectetuer adipiscing elit, sed diam nonummy nibh euismod tincidunt 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62626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Lorem ipsum dolor sit amet.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consectetuer adipiscing elit.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diam nonummy nibh euismod tincidunt 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9"/>
          <p:cNvPicPr preferRelativeResize="0"/>
          <p:nvPr/>
        </p:nvPicPr>
        <p:blipFill rotWithShape="1">
          <a:blip r:embed="rId4">
            <a:alphaModFix/>
          </a:blip>
          <a:srcRect b="0" l="11064" r="8278" t="0"/>
          <a:stretch/>
        </p:blipFill>
        <p:spPr>
          <a:xfrm>
            <a:off x="0" y="0"/>
            <a:ext cx="36841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9"/>
          <p:cNvSpPr txBox="1"/>
          <p:nvPr/>
        </p:nvSpPr>
        <p:spPr>
          <a:xfrm>
            <a:off x="0" y="5571155"/>
            <a:ext cx="3684104" cy="1471511"/>
          </a:xfrm>
          <a:prstGeom prst="rect">
            <a:avLst/>
          </a:prstGeom>
          <a:solidFill>
            <a:schemeClr val="accent5">
              <a:alpha val="67451"/>
            </a:schemeClr>
          </a:solidFill>
          <a:ln>
            <a:noFill/>
          </a:ln>
        </p:spPr>
        <p:txBody>
          <a:bodyPr anchorCtr="0" anchor="t" bIns="180000" lIns="216000" spcFirstLastPara="1" rIns="216000" wrap="square" tIns="18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77FE32"/>
                </a:solidFill>
                <a:latin typeface="Work Sans"/>
                <a:ea typeface="Work Sans"/>
                <a:cs typeface="Work Sans"/>
                <a:sym typeface="Work Sans"/>
              </a:rPr>
              <a:t>NOTA: </a:t>
            </a:r>
            <a:r>
              <a:rPr b="0" i="0" lang="es-CO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Remplazar fotografía por una relacionada con el tema de la presentación y eliminar este cuadro de texto. Fotos disponibles en: </a:t>
            </a:r>
            <a:r>
              <a:rPr b="0" i="0" lang="es-CO" sz="1200" u="none" cap="none" strike="noStrike">
                <a:solidFill>
                  <a:srgbClr val="77FE32"/>
                </a:solidFill>
                <a:latin typeface="Work Sans"/>
                <a:ea typeface="Work Sans"/>
                <a:cs typeface="Work Sans"/>
                <a:sym typeface="Work Sans"/>
              </a:rPr>
              <a:t>https://www.flickr.com/photos/198275007@N06/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9"/>
          <p:cNvSpPr txBox="1"/>
          <p:nvPr/>
        </p:nvSpPr>
        <p:spPr>
          <a:xfrm>
            <a:off x="4379428" y="2120265"/>
            <a:ext cx="1425934" cy="405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Título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9"/>
          <p:cNvSpPr txBox="1"/>
          <p:nvPr/>
        </p:nvSpPr>
        <p:spPr>
          <a:xfrm>
            <a:off x="4379428" y="2767965"/>
            <a:ext cx="3854368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Lorem ipsum dolor sit amet, consectetuer adipiscing elit, sed diam nonummy nibh euismod tincidunt 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62626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AutoNum type="arabicPeriod"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Lorem ipsum dolor sit amet.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AutoNum type="arabicPeriod"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consectetuer adipiscing elit.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AutoNum type="arabicPeriod"/>
            </a:pPr>
            <a:r>
              <a:rPr b="0" i="0" lang="es-CO" sz="1600" u="none" cap="none" strike="noStrike">
                <a:solidFill>
                  <a:srgbClr val="262626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diam nonummy nibh euismod tincidunt 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"/>
          <p:cNvSpPr txBox="1"/>
          <p:nvPr/>
        </p:nvSpPr>
        <p:spPr>
          <a:xfrm>
            <a:off x="3946569" y="924858"/>
            <a:ext cx="6453678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32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CONCLUSIONES</a:t>
            </a:r>
            <a:endParaRPr b="1" i="0" sz="20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74" name="Google Shape;574;p2"/>
          <p:cNvSpPr txBox="1"/>
          <p:nvPr/>
        </p:nvSpPr>
        <p:spPr>
          <a:xfrm>
            <a:off x="9185414" y="4718718"/>
            <a:ext cx="1945270" cy="1026023"/>
          </a:xfrm>
          <a:prstGeom prst="rect">
            <a:avLst/>
          </a:prstGeom>
          <a:solidFill>
            <a:schemeClr val="accent5">
              <a:alpha val="67451"/>
            </a:schemeClr>
          </a:solidFill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O" sz="1050" u="none" cap="none" strike="noStrike">
                <a:solidFill>
                  <a:srgbClr val="77FE32"/>
                </a:solidFill>
                <a:latin typeface="Work Sans"/>
                <a:ea typeface="Work Sans"/>
                <a:cs typeface="Work Sans"/>
                <a:sym typeface="Work Sans"/>
              </a:rPr>
              <a:t>Nota: </a:t>
            </a:r>
            <a:r>
              <a:rPr b="0" i="0" lang="es-CO" sz="105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Espacio para logo o marca externa. El tamaño no debe superar el tamaño del logo SENA. </a:t>
            </a:r>
            <a:r>
              <a:rPr b="1" i="0" lang="es-CO" sz="105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Eliminar este texto.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2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474533" y="73617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"/>
          <p:cNvSpPr txBox="1"/>
          <p:nvPr/>
        </p:nvSpPr>
        <p:spPr>
          <a:xfrm>
            <a:off x="391886" y="296863"/>
            <a:ext cx="320210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 clasificada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7" name="Google Shape;577;p2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578" name="Google Shape;578;p2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